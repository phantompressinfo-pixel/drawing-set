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19456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9184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8912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3776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7824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2688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87552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42416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52144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07008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548640"/>
            <a:ext cx="12191695" cy="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1097280"/>
            <a:ext cx="12191695" cy="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645920"/>
            <a:ext cx="12191695" cy="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2194560"/>
            <a:ext cx="12191695" cy="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3291840"/>
            <a:ext cx="12191695" cy="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840480"/>
            <a:ext cx="12191695" cy="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4389120"/>
            <a:ext cx="12191695" cy="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6035040"/>
            <a:ext cx="12191695" cy="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583680"/>
            <a:ext cx="12191695" cy="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2960" y="1417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STUDIO NAME ARCHITECTS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777240" y="18288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spc="100" kern="0" dirty="0">
                <a:solidFill>
                  <a:srgbClr val="F4F6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HUB</a:t>
            </a:r>
            <a:endParaRPr lang="en-US" sz="64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" y="30632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7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website concept for office standards, templates, forms, policies,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7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SOPs, and Revit standards — all in one searchable hub.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822960" y="4160520"/>
            <a:ext cx="3246120" cy="457200"/>
          </a:xfrm>
          <a:prstGeom prst="roundRect">
            <a:avLst>
              <a:gd name="adj" fmla="val 12000"/>
            </a:avLst>
          </a:prstGeom>
          <a:solidFill>
            <a:srgbClr val="C1432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22960" y="41605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SAMPLE — NO LIVE LINKS YET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8C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Prepared for internal review · 28 August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1C25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0" y="12435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1243584"/>
            <a:ext cx="45720" cy="420624"/>
          </a:xfrm>
          <a:prstGeom prst="rect">
            <a:avLst/>
          </a:prstGeom>
          <a:solidFill>
            <a:srgbClr val="C1432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1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links, pinned resources, and the latest announcements — one page, everything the office needs.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1C253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0" y="1956816"/>
            <a:ext cx="1475689" cy="566928"/>
          </a:xfrm>
          <a:prstGeom prst="roundRect">
            <a:avLst>
              <a:gd name="adj" fmla="val 8065"/>
            </a:avLst>
          </a:prstGeom>
          <a:solidFill>
            <a:srgbClr val="E3E8EA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286000" y="1956816"/>
            <a:ext cx="147568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907993" y="1956816"/>
            <a:ext cx="1475689" cy="566928"/>
          </a:xfrm>
          <a:prstGeom prst="roundRect">
            <a:avLst>
              <a:gd name="adj" fmla="val 8065"/>
            </a:avLst>
          </a:prstGeom>
          <a:solidFill>
            <a:srgbClr val="E3E8EA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907993" y="1956816"/>
            <a:ext cx="147568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529986" y="1956816"/>
            <a:ext cx="1475689" cy="566928"/>
          </a:xfrm>
          <a:prstGeom prst="roundRect">
            <a:avLst>
              <a:gd name="adj" fmla="val 8065"/>
            </a:avLst>
          </a:prstGeom>
          <a:solidFill>
            <a:srgbClr val="E3E8EA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529986" y="1956816"/>
            <a:ext cx="147568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151980" y="1956816"/>
            <a:ext cx="1475689" cy="566928"/>
          </a:xfrm>
          <a:prstGeom prst="roundRect">
            <a:avLst>
              <a:gd name="adj" fmla="val 8065"/>
            </a:avLst>
          </a:prstGeom>
          <a:solidFill>
            <a:srgbClr val="E3E8EA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151980" y="1956816"/>
            <a:ext cx="147568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8773973" y="1956816"/>
            <a:ext cx="1475689" cy="566928"/>
          </a:xfrm>
          <a:prstGeom prst="roundRect">
            <a:avLst>
              <a:gd name="adj" fmla="val 8065"/>
            </a:avLst>
          </a:prstGeom>
          <a:solidFill>
            <a:srgbClr val="E3E8EA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773973" y="1956816"/>
            <a:ext cx="147568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10395966" y="1956816"/>
            <a:ext cx="1475689" cy="566928"/>
          </a:xfrm>
          <a:prstGeom prst="roundRect">
            <a:avLst>
              <a:gd name="adj" fmla="val 8065"/>
            </a:avLst>
          </a:prstGeom>
          <a:solidFill>
            <a:srgbClr val="E3E8EA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0395966" y="1956816"/>
            <a:ext cx="147568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REVIT STD.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2286000" y="274320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PINNED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286000" y="3017520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2414016" y="3108960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BIM-601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621682" y="3099816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621682" y="3099816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46" name="Text 44"/>
          <p:cNvSpPr txBox="1"/>
          <p:nvPr/>
        </p:nvSpPr>
        <p:spPr>
          <a:xfrm>
            <a:off x="2414016" y="3310128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Setup Protocol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2414016" y="3858768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file location, worksets, and sync frequency for shared Revit models.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414016" y="4462272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414016" y="4507992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50" name="Text 48"/>
          <p:cNvSpPr txBox="1"/>
          <p:nvPr/>
        </p:nvSpPr>
        <p:spPr>
          <a:xfrm>
            <a:off x="4557674" y="4507992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5554370" y="3017520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5682386" y="3108960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STD-101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7890053" y="3099816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890053" y="3099816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55" name="Text 53"/>
          <p:cNvSpPr txBox="1"/>
          <p:nvPr/>
        </p:nvSpPr>
        <p:spPr>
          <a:xfrm>
            <a:off x="5682386" y="3310128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&amp; CAD Standards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5682386" y="3858768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weights, layer naming, and dimensioning conventions.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5682386" y="4462272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682386" y="4507992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59" name="Text 57"/>
          <p:cNvSpPr txBox="1"/>
          <p:nvPr/>
        </p:nvSpPr>
        <p:spPr>
          <a:xfrm>
            <a:off x="7826045" y="4507992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8822741" y="3017520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8950757" y="3108960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SOP-501</a:t>
            </a:r>
            <a:endParaRPr lang="en-US" sz="800" dirty="0"/>
          </a:p>
        </p:txBody>
      </p:sp>
      <p:sp>
        <p:nvSpPr>
          <p:cNvPr id="62" name="Text 60"/>
          <p:cNvSpPr txBox="1"/>
          <p:nvPr/>
        </p:nvSpPr>
        <p:spPr>
          <a:xfrm>
            <a:off x="8950757" y="3310128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Kickoff SOP</a:t>
            </a:r>
            <a:endParaRPr lang="en-US" sz="1150" dirty="0"/>
          </a:p>
        </p:txBody>
      </p:sp>
      <p:sp>
        <p:nvSpPr>
          <p:cNvPr id="63" name="Text 61"/>
          <p:cNvSpPr txBox="1"/>
          <p:nvPr/>
        </p:nvSpPr>
        <p:spPr>
          <a:xfrm>
            <a:off x="8950757" y="3858768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Numbering, folder structure, and team setup for new projects.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8950757" y="4462272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8950757" y="4507992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66" name="Text 64"/>
          <p:cNvSpPr txBox="1"/>
          <p:nvPr/>
        </p:nvSpPr>
        <p:spPr>
          <a:xfrm>
            <a:off x="11094415" y="4507992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7" name="Text 65"/>
          <p:cNvSpPr txBox="1"/>
          <p:nvPr/>
        </p:nvSpPr>
        <p:spPr>
          <a:xfrm>
            <a:off x="2286000" y="495604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LATEST ANNOUNCEMENT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2286000" y="5212080"/>
            <a:ext cx="9585655" cy="658368"/>
          </a:xfrm>
          <a:prstGeom prst="roundRect">
            <a:avLst>
              <a:gd name="adj" fmla="val 6944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286000" y="5212080"/>
            <a:ext cx="45720" cy="658368"/>
          </a:xfrm>
          <a:prstGeom prst="rect">
            <a:avLst/>
          </a:prstGeom>
          <a:solidFill>
            <a:srgbClr val="C1432A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2514600" y="528523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2027 rollout begins next month</a:t>
            </a:r>
            <a:endParaRPr lang="en-US" sz="1100" dirty="0"/>
          </a:p>
        </p:txBody>
      </p:sp>
      <p:sp>
        <p:nvSpPr>
          <p:cNvPr id="71" name="Text 69"/>
          <p:cNvSpPr txBox="1"/>
          <p:nvPr/>
        </p:nvSpPr>
        <p:spPr>
          <a:xfrm>
            <a:off x="2514600" y="554126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will begin migrating active projects starting mid-September. Watch for your migration window.</a:t>
            </a:r>
            <a:endParaRPr lang="en-US" sz="950" dirty="0"/>
          </a:p>
        </p:txBody>
      </p:sp>
      <p:sp>
        <p:nvSpPr>
          <p:cNvPr id="72" name="Text 70"/>
          <p:cNvSpPr txBox="1"/>
          <p:nvPr/>
        </p:nvSpPr>
        <p:spPr>
          <a:xfrm>
            <a:off x="10728655" y="528523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AUG 2026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1C25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0" y="17007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1700784"/>
            <a:ext cx="45720" cy="420624"/>
          </a:xfrm>
          <a:prstGeom prst="rect">
            <a:avLst/>
          </a:prstGeom>
          <a:solidFill>
            <a:srgbClr val="C1432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1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Announcements &amp; Reminders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Pinned office notices, deadlines, closures, and IT maintenance windows.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1C253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0" y="1956816"/>
            <a:ext cx="9585655" cy="896112"/>
          </a:xfrm>
          <a:prstGeom prst="roundRect">
            <a:avLst>
              <a:gd name="adj" fmla="val 510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86000" y="1956816"/>
            <a:ext cx="54864" cy="896112"/>
          </a:xfrm>
          <a:prstGeom prst="rect">
            <a:avLst/>
          </a:prstGeom>
          <a:solidFill>
            <a:srgbClr val="B8842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532888" y="204825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closed — Labor Day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2532888" y="2359152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closed Monday, September 7. Deadlines falling on this date shift to September 8.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10591495" y="204825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SEP 2026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2286000" y="3017520"/>
            <a:ext cx="9585655" cy="896112"/>
          </a:xfrm>
          <a:prstGeom prst="roundRect">
            <a:avLst>
              <a:gd name="adj" fmla="val 510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86000" y="3017520"/>
            <a:ext cx="54864" cy="896112"/>
          </a:xfrm>
          <a:prstGeom prst="rect">
            <a:avLst/>
          </a:prstGeom>
          <a:solidFill>
            <a:srgbClr val="B8842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532888" y="3108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2027 rollout begins next month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2532888" y="3419856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will begin migrating active projects starting mid-September. Watch for your migration window.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10591495" y="310896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AUG 2026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2286000" y="4078224"/>
            <a:ext cx="9585655" cy="896112"/>
          </a:xfrm>
          <a:prstGeom prst="roundRect">
            <a:avLst>
              <a:gd name="adj" fmla="val 510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86000" y="4078224"/>
            <a:ext cx="54864" cy="896112"/>
          </a:xfrm>
          <a:prstGeom prst="rect">
            <a:avLst/>
          </a:prstGeom>
          <a:solidFill>
            <a:srgbClr val="C9D1D6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2532888" y="4169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QA/QC checkpoint before CD issue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2532888" y="44805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SOP-502 (QA/QC Review SOP) for the updated milestone review requirement.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10591495" y="4169664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AUG 2026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286000" y="5138928"/>
            <a:ext cx="9585655" cy="896112"/>
          </a:xfrm>
          <a:prstGeom prst="roundRect">
            <a:avLst>
              <a:gd name="adj" fmla="val 510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286000" y="5138928"/>
            <a:ext cx="54864" cy="896112"/>
          </a:xfrm>
          <a:prstGeom prst="rect">
            <a:avLst/>
          </a:prstGeom>
          <a:solidFill>
            <a:srgbClr val="C9D1D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532888" y="5230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maintenance — Sat 8/30, 6–10am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2532888" y="5541264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server and Revit central files will be unavailable during this window.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10591495" y="523036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1C25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0" y="21579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157984"/>
            <a:ext cx="45720" cy="420624"/>
          </a:xfrm>
          <a:prstGeom prst="rect">
            <a:avLst/>
          </a:prstGeom>
          <a:solidFill>
            <a:srgbClr val="C1432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1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Standards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conventions, CAD standards, file naming, and deliverable requirements.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1C253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241401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21682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21682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41401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&amp; CAD Standards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weights, layer naming, hatch patterns, and dimensioning conventions.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41401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41401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557674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555437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568238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STD-102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7890053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890053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42" name="Text 40"/>
          <p:cNvSpPr txBox="1"/>
          <p:nvPr/>
        </p:nvSpPr>
        <p:spPr>
          <a:xfrm>
            <a:off x="568238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Naming Convention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568238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structure for drawings, models, and project folders.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68238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68238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782604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8822741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8950757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STD-103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11158423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1158423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51" name="Text 49"/>
          <p:cNvSpPr txBox="1"/>
          <p:nvPr/>
        </p:nvSpPr>
        <p:spPr>
          <a:xfrm>
            <a:off x="8950757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Sheet Numbering Standard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8950757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 prefixes and sheet sequencing for construction document sets.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8950757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950757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1109441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228600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241401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STD-104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241401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Standards by Phase</a:t>
            </a:r>
            <a:endParaRPr lang="en-US" sz="1150" dirty="0"/>
          </a:p>
        </p:txBody>
      </p:sp>
      <p:sp>
        <p:nvSpPr>
          <p:cNvPr id="59" name="Text 57"/>
          <p:cNvSpPr txBox="1"/>
          <p:nvPr/>
        </p:nvSpPr>
        <p:spPr>
          <a:xfrm>
            <a:off x="241401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drawing content at SD, DD, CD, and CA phases.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241401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41401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62" name="Text 60"/>
          <p:cNvSpPr txBox="1"/>
          <p:nvPr/>
        </p:nvSpPr>
        <p:spPr>
          <a:xfrm>
            <a:off x="4557674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555437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4" name="Text 62"/>
          <p:cNvSpPr txBox="1"/>
          <p:nvPr/>
        </p:nvSpPr>
        <p:spPr>
          <a:xfrm>
            <a:off x="568238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STD-105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7890053" y="39776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B8842A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7890053" y="39776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B884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UPDATED</a:t>
            </a:r>
            <a:endParaRPr lang="en-US" sz="650" dirty="0"/>
          </a:p>
        </p:txBody>
      </p:sp>
      <p:sp>
        <p:nvSpPr>
          <p:cNvPr id="67" name="Text 65"/>
          <p:cNvSpPr txBox="1"/>
          <p:nvPr/>
        </p:nvSpPr>
        <p:spPr>
          <a:xfrm>
            <a:off x="568238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Plotting &amp; Print Standards</a:t>
            </a:r>
            <a:endParaRPr lang="en-US" sz="1150" dirty="0"/>
          </a:p>
        </p:txBody>
      </p:sp>
      <p:sp>
        <p:nvSpPr>
          <p:cNvPr id="68" name="Text 66"/>
          <p:cNvSpPr txBox="1"/>
          <p:nvPr/>
        </p:nvSpPr>
        <p:spPr>
          <a:xfrm>
            <a:off x="568238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 tables, plot styles, and PDF export settings.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568238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68238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71" name="Text 69"/>
          <p:cNvSpPr txBox="1"/>
          <p:nvPr/>
        </p:nvSpPr>
        <p:spPr>
          <a:xfrm>
            <a:off x="782604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8822741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73" name="Text 71"/>
          <p:cNvSpPr txBox="1"/>
          <p:nvPr/>
        </p:nvSpPr>
        <p:spPr>
          <a:xfrm>
            <a:off x="8950757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STD-106</a:t>
            </a:r>
            <a:endParaRPr lang="en-US" sz="800" dirty="0"/>
          </a:p>
        </p:txBody>
      </p:sp>
      <p:sp>
        <p:nvSpPr>
          <p:cNvPr id="74" name="Text 72"/>
          <p:cNvSpPr txBox="1"/>
          <p:nvPr/>
        </p:nvSpPr>
        <p:spPr>
          <a:xfrm>
            <a:off x="8950757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Format Guide</a:t>
            </a:r>
            <a:endParaRPr lang="en-US" sz="1150" dirty="0"/>
          </a:p>
        </p:txBody>
      </p:sp>
      <p:sp>
        <p:nvSpPr>
          <p:cNvPr id="75" name="Text 73"/>
          <p:cNvSpPr txBox="1"/>
          <p:nvPr/>
        </p:nvSpPr>
        <p:spPr>
          <a:xfrm>
            <a:off x="8950757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CSI MasterFormat divisions used in office specifications.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8950757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950757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DOCX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1109441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1C25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0" y="26151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615184"/>
            <a:ext cx="45720" cy="420624"/>
          </a:xfrm>
          <a:prstGeom prst="rect">
            <a:avLst/>
          </a:prstGeom>
          <a:solidFill>
            <a:srgbClr val="C1432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1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Ready-to-use templates for drawings, correspondence, and project documents.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1C253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241401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21682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21682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41401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Sheet Title Block Template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block, north arrow, and scale bar for CAD sheets.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41401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41401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DWG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557674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555437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568238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TPL-202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568238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 Minutes Template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568238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format for OAC and design meeting minutes.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8238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68238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44" name="Text 42"/>
          <p:cNvSpPr txBox="1"/>
          <p:nvPr/>
        </p:nvSpPr>
        <p:spPr>
          <a:xfrm>
            <a:off x="782604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8822741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8950757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TPL-203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8950757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Transmittal Template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8950757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sheet for issuing drawings and documents.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950757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950757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DOCX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1109441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28600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3" name="Text 51"/>
          <p:cNvSpPr txBox="1"/>
          <p:nvPr/>
        </p:nvSpPr>
        <p:spPr>
          <a:xfrm>
            <a:off x="241401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TPL-204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241401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RFI Template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241401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for Information format with numbering convention.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241401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41401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Sheet</a:t>
            </a:r>
            <a:endParaRPr lang="en-US" sz="750" dirty="0"/>
          </a:p>
        </p:txBody>
      </p:sp>
      <p:sp>
        <p:nvSpPr>
          <p:cNvPr id="58" name="Text 56"/>
          <p:cNvSpPr txBox="1"/>
          <p:nvPr/>
        </p:nvSpPr>
        <p:spPr>
          <a:xfrm>
            <a:off x="4557674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555437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0" name="Text 58"/>
          <p:cNvSpPr txBox="1"/>
          <p:nvPr/>
        </p:nvSpPr>
        <p:spPr>
          <a:xfrm>
            <a:off x="568238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TPL-205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7890053" y="39776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C1432A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890053" y="39776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endParaRPr lang="en-US" sz="650" dirty="0"/>
          </a:p>
        </p:txBody>
      </p:sp>
      <p:sp>
        <p:nvSpPr>
          <p:cNvPr id="63" name="Text 61"/>
          <p:cNvSpPr txBox="1"/>
          <p:nvPr/>
        </p:nvSpPr>
        <p:spPr>
          <a:xfrm>
            <a:off x="568238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Punch List Template</a:t>
            </a:r>
            <a:endParaRPr lang="en-US" sz="1150" dirty="0"/>
          </a:p>
        </p:txBody>
      </p:sp>
      <p:sp>
        <p:nvSpPr>
          <p:cNvPr id="64" name="Text 62"/>
          <p:cNvSpPr txBox="1"/>
          <p:nvPr/>
        </p:nvSpPr>
        <p:spPr>
          <a:xfrm>
            <a:off x="568238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punch list with location, trade, and status columns.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568238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568238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Sheet</a:t>
            </a:r>
            <a:endParaRPr lang="en-US" sz="750" dirty="0"/>
          </a:p>
        </p:txBody>
      </p:sp>
      <p:sp>
        <p:nvSpPr>
          <p:cNvPr id="67" name="Text 65"/>
          <p:cNvSpPr txBox="1"/>
          <p:nvPr/>
        </p:nvSpPr>
        <p:spPr>
          <a:xfrm>
            <a:off x="782604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8822741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8950757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TPL-206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8950757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 &amp; Fee Template</a:t>
            </a:r>
            <a:endParaRPr lang="en-US" sz="1150" dirty="0"/>
          </a:p>
        </p:txBody>
      </p:sp>
      <p:sp>
        <p:nvSpPr>
          <p:cNvPr id="71" name="Text 69"/>
          <p:cNvSpPr txBox="1"/>
          <p:nvPr/>
        </p:nvSpPr>
        <p:spPr>
          <a:xfrm>
            <a:off x="8950757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proposal layout with scope and fee table.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950757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950757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DOCX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1109441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1C25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0" y="30723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3072384"/>
            <a:ext cx="45720" cy="420624"/>
          </a:xfrm>
          <a:prstGeom prst="rect">
            <a:avLst/>
          </a:prstGeom>
          <a:solidFill>
            <a:srgbClr val="C1432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1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Forms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Fillable forms for HR, IT, expenses, and project administration.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1C253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241401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21682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21682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41401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PTO / Time-Off Request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vacation, sick, or personal time for approval.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41401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41401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557674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555437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568238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FRM-302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568238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Expense Reimbursement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568238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receipts and mileage — reviewed biweekly.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8238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68238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</a:t>
            </a:r>
            <a:endParaRPr lang="en-US" sz="750" dirty="0"/>
          </a:p>
        </p:txBody>
      </p:sp>
      <p:sp>
        <p:nvSpPr>
          <p:cNvPr id="44" name="Text 42"/>
          <p:cNvSpPr txBox="1"/>
          <p:nvPr/>
        </p:nvSpPr>
        <p:spPr>
          <a:xfrm>
            <a:off x="782604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8822741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8950757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FRM-303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8950757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Support Request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8950757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hardware, software, or network issues to IT.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950757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950757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1109441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28600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3" name="Text 51"/>
          <p:cNvSpPr txBox="1"/>
          <p:nvPr/>
        </p:nvSpPr>
        <p:spPr>
          <a:xfrm>
            <a:off x="241401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FRM-304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241401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New-Hire Onboarding Checklist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241401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checklist for accounts, licenses, and workstation.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241401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41401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58" name="Text 56"/>
          <p:cNvSpPr txBox="1"/>
          <p:nvPr/>
        </p:nvSpPr>
        <p:spPr>
          <a:xfrm>
            <a:off x="4557674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555437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0" name="Text 58"/>
          <p:cNvSpPr txBox="1"/>
          <p:nvPr/>
        </p:nvSpPr>
        <p:spPr>
          <a:xfrm>
            <a:off x="568238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FRM-305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7890053" y="39776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890053" y="39776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63" name="Text 61"/>
          <p:cNvSpPr txBox="1"/>
          <p:nvPr/>
        </p:nvSpPr>
        <p:spPr>
          <a:xfrm>
            <a:off x="568238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Closeout Checklist</a:t>
            </a:r>
            <a:endParaRPr lang="en-US" sz="1150" dirty="0"/>
          </a:p>
        </p:txBody>
      </p:sp>
      <p:sp>
        <p:nvSpPr>
          <p:cNvPr id="64" name="Text 62"/>
          <p:cNvSpPr txBox="1"/>
          <p:nvPr/>
        </p:nvSpPr>
        <p:spPr>
          <a:xfrm>
            <a:off x="568238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drawings and file record documents.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568238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568238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Sheet</a:t>
            </a:r>
            <a:endParaRPr lang="en-US" sz="750" dirty="0"/>
          </a:p>
        </p:txBody>
      </p:sp>
      <p:sp>
        <p:nvSpPr>
          <p:cNvPr id="67" name="Text 65"/>
          <p:cNvSpPr txBox="1"/>
          <p:nvPr/>
        </p:nvSpPr>
        <p:spPr>
          <a:xfrm>
            <a:off x="782604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8822741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8950757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FRM-306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8950757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Timesheet Correction</a:t>
            </a:r>
            <a:endParaRPr lang="en-US" sz="1150" dirty="0"/>
          </a:p>
        </p:txBody>
      </p:sp>
      <p:sp>
        <p:nvSpPr>
          <p:cNvPr id="71" name="Text 69"/>
          <p:cNvSpPr txBox="1"/>
          <p:nvPr/>
        </p:nvSpPr>
        <p:spPr>
          <a:xfrm>
            <a:off x="8950757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correction to a submitted weekly timesheet.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950757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950757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1109441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1C25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0" y="35295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529584"/>
            <a:ext cx="45720" cy="420624"/>
          </a:xfrm>
          <a:prstGeom prst="rect">
            <a:avLst/>
          </a:prstGeom>
          <a:solidFill>
            <a:srgbClr val="C1432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1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Policies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handbook and firm-wide policies.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1C253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241401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POL-401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21682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21682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41401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Employee Handbook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Firm-wide policies covering conduct, benefits, and workplace expectations.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41401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41401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557674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555437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568238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POL-402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7890053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890053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42" name="Text 40"/>
          <p:cNvSpPr txBox="1"/>
          <p:nvPr/>
        </p:nvSpPr>
        <p:spPr>
          <a:xfrm>
            <a:off x="568238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Jobsite Health &amp; Safety Policy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568238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PPE requirements and safety protocol for site visits.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68238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68238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782604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8822741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8950757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POL-403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8950757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 Work Policy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8950757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Eligibility, core hours, and equipment guidelines.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8950757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50757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1109441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228600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241401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POL-404</a:t>
            </a:r>
            <a:endParaRPr lang="en-US" sz="800" dirty="0"/>
          </a:p>
        </p:txBody>
      </p:sp>
      <p:sp>
        <p:nvSpPr>
          <p:cNvPr id="56" name="Text 54"/>
          <p:cNvSpPr txBox="1"/>
          <p:nvPr/>
        </p:nvSpPr>
        <p:spPr>
          <a:xfrm>
            <a:off x="241401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&amp; Mileage Policy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241401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Mileage rate and reimbursement rules for site visits.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241401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41401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60" name="Text 58"/>
          <p:cNvSpPr txBox="1"/>
          <p:nvPr/>
        </p:nvSpPr>
        <p:spPr>
          <a:xfrm>
            <a:off x="4557674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555437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2" name="Text 60"/>
          <p:cNvSpPr txBox="1"/>
          <p:nvPr/>
        </p:nvSpPr>
        <p:spPr>
          <a:xfrm>
            <a:off x="568238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POL-405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7890053" y="39776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B8842A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7890053" y="39776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B884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UPDATED</a:t>
            </a:r>
            <a:endParaRPr lang="en-US" sz="650" dirty="0"/>
          </a:p>
        </p:txBody>
      </p:sp>
      <p:sp>
        <p:nvSpPr>
          <p:cNvPr id="65" name="Text 63"/>
          <p:cNvSpPr txBox="1"/>
          <p:nvPr/>
        </p:nvSpPr>
        <p:spPr>
          <a:xfrm>
            <a:off x="568238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&amp; Software Use Policy</a:t>
            </a:r>
            <a:endParaRPr lang="en-US" sz="1150" dirty="0"/>
          </a:p>
        </p:txBody>
      </p:sp>
      <p:sp>
        <p:nvSpPr>
          <p:cNvPr id="66" name="Text 64"/>
          <p:cNvSpPr txBox="1"/>
          <p:nvPr/>
        </p:nvSpPr>
        <p:spPr>
          <a:xfrm>
            <a:off x="568238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 use and data-security requirements.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568238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568238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69" name="Text 67"/>
          <p:cNvSpPr txBox="1"/>
          <p:nvPr/>
        </p:nvSpPr>
        <p:spPr>
          <a:xfrm>
            <a:off x="782604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1C25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0" y="39867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986784"/>
            <a:ext cx="45720" cy="420624"/>
          </a:xfrm>
          <a:prstGeom prst="rect">
            <a:avLst/>
          </a:prstGeom>
          <a:solidFill>
            <a:srgbClr val="C1432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1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Operating Procedures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procedures for recurring project workflows.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1C253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241401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21682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21682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41401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Kickoff SOP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Numbering, folder structure, contracts, and team setup.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41401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41401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557674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555437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568238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SOP-502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7890053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890053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42" name="Text 40"/>
          <p:cNvSpPr txBox="1"/>
          <p:nvPr/>
        </p:nvSpPr>
        <p:spPr>
          <a:xfrm>
            <a:off x="568238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QA/QC Review SOP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568238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review checkpoints before issuing drawing sets.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68238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68238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782604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8822741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8950757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SOP-503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8950757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Submittal Review SOP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8950757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Log, route, and respond to contractor submittals.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8950757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50757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1109441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228600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241401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SOP-504</a:t>
            </a:r>
            <a:endParaRPr lang="en-US" sz="800" dirty="0"/>
          </a:p>
        </p:txBody>
      </p:sp>
      <p:sp>
        <p:nvSpPr>
          <p:cNvPr id="56" name="Text 54"/>
          <p:cNvSpPr txBox="1"/>
          <p:nvPr/>
        </p:nvSpPr>
        <p:spPr>
          <a:xfrm>
            <a:off x="241401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Onboarding SOP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241401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execution and kickoff scheduling for new clients.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241401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41401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60" name="Text 58"/>
          <p:cNvSpPr txBox="1"/>
          <p:nvPr/>
        </p:nvSpPr>
        <p:spPr>
          <a:xfrm>
            <a:off x="4557674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555437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2" name="Text 60"/>
          <p:cNvSpPr txBox="1"/>
          <p:nvPr/>
        </p:nvSpPr>
        <p:spPr>
          <a:xfrm>
            <a:off x="568238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SOP-505</a:t>
            </a:r>
            <a:endParaRPr lang="en-US" sz="800" dirty="0"/>
          </a:p>
        </p:txBody>
      </p:sp>
      <p:sp>
        <p:nvSpPr>
          <p:cNvPr id="63" name="Text 61"/>
          <p:cNvSpPr txBox="1"/>
          <p:nvPr/>
        </p:nvSpPr>
        <p:spPr>
          <a:xfrm>
            <a:off x="568238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Backup &amp; Archiving SOP</a:t>
            </a:r>
            <a:endParaRPr lang="en-US" sz="1150" dirty="0"/>
          </a:p>
        </p:txBody>
      </p:sp>
      <p:sp>
        <p:nvSpPr>
          <p:cNvPr id="64" name="Text 62"/>
          <p:cNvSpPr txBox="1"/>
          <p:nvPr/>
        </p:nvSpPr>
        <p:spPr>
          <a:xfrm>
            <a:off x="568238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cadence and archive procedure for project files.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568238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568238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67" name="Text 65"/>
          <p:cNvSpPr txBox="1"/>
          <p:nvPr/>
        </p:nvSpPr>
        <p:spPr>
          <a:xfrm>
            <a:off x="782604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8822741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8950757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SOP-506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8950757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 Issue &amp; Plotting SOP</a:t>
            </a:r>
            <a:endParaRPr lang="en-US" sz="1150" dirty="0"/>
          </a:p>
        </p:txBody>
      </p:sp>
      <p:sp>
        <p:nvSpPr>
          <p:cNvPr id="71" name="Text 69"/>
          <p:cNvSpPr txBox="1"/>
          <p:nvPr/>
        </p:nvSpPr>
        <p:spPr>
          <a:xfrm>
            <a:off x="8950757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review, plotting, and transmittal logging.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950757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950757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1109441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1C25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0" y="44439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4443984"/>
            <a:ext cx="45720" cy="420624"/>
          </a:xfrm>
          <a:prstGeom prst="rect">
            <a:avLst/>
          </a:prstGeom>
          <a:solidFill>
            <a:srgbClr val="C1432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1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Revit Standards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 execution standards for model setup, families, views, sheets, and plotting.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1C253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0" y="1956816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2414016" y="2048256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804590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804590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414016" y="2249424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Setup &amp; Worksharing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798064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file location, worksets, and sync frequency.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414016" y="3630168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414016" y="3675888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3740582" y="36758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737278" y="1956816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4865294" y="2048256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BIM-602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4865294" y="2249424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 Library &amp; Naming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4865294" y="2798064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family library location and naming convention.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865294" y="3630168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865294" y="3675888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44" name="Text 42"/>
          <p:cNvSpPr txBox="1"/>
          <p:nvPr/>
        </p:nvSpPr>
        <p:spPr>
          <a:xfrm>
            <a:off x="6191860" y="36758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7188556" y="1956816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7316572" y="2048256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BIM-603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7316572" y="2249424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Templates &amp; Graphics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7316572" y="2798064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view templates and graphic overrides.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7316572" y="3630168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316572" y="3675888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RVT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8643137" y="36758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9639833" y="1956816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3" name="Text 51"/>
          <p:cNvSpPr txBox="1"/>
          <p:nvPr/>
        </p:nvSpPr>
        <p:spPr>
          <a:xfrm>
            <a:off x="9767849" y="2048256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BIM-604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9767849" y="2249424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Sheet &amp; View Numbering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9767849" y="2798064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naming aligned to the office sheet-numbering standard.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9767849" y="3630168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9767849" y="3675888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58" name="Text 56"/>
          <p:cNvSpPr txBox="1"/>
          <p:nvPr/>
        </p:nvSpPr>
        <p:spPr>
          <a:xfrm>
            <a:off x="11094415" y="36758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2286000" y="4123944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0" name="Text 58"/>
          <p:cNvSpPr txBox="1"/>
          <p:nvPr/>
        </p:nvSpPr>
        <p:spPr>
          <a:xfrm>
            <a:off x="2414016" y="4215384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BIM-605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3804590" y="42062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B8842A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804590" y="42062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B884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UPDATED</a:t>
            </a:r>
            <a:endParaRPr lang="en-US" sz="650" dirty="0"/>
          </a:p>
        </p:txBody>
      </p:sp>
      <p:sp>
        <p:nvSpPr>
          <p:cNvPr id="63" name="Text 61"/>
          <p:cNvSpPr txBox="1"/>
          <p:nvPr/>
        </p:nvSpPr>
        <p:spPr>
          <a:xfrm>
            <a:off x="2414016" y="4416552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of Development Matrix</a:t>
            </a:r>
            <a:endParaRPr lang="en-US" sz="1050" dirty="0"/>
          </a:p>
        </p:txBody>
      </p:sp>
      <p:sp>
        <p:nvSpPr>
          <p:cNvPr id="64" name="Text 62"/>
          <p:cNvSpPr txBox="1"/>
          <p:nvPr/>
        </p:nvSpPr>
        <p:spPr>
          <a:xfrm>
            <a:off x="2414016" y="4965192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LOD by element and project phase.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2414016" y="5797296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414016" y="5843016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Sheet</a:t>
            </a:r>
            <a:endParaRPr lang="en-US" sz="750" dirty="0"/>
          </a:p>
        </p:txBody>
      </p:sp>
      <p:sp>
        <p:nvSpPr>
          <p:cNvPr id="67" name="Text 65"/>
          <p:cNvSpPr txBox="1"/>
          <p:nvPr/>
        </p:nvSpPr>
        <p:spPr>
          <a:xfrm>
            <a:off x="3740582" y="58430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4737278" y="4123944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4865294" y="4215384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BIM-606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4865294" y="4416552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CAD-to-Revit Linking</a:t>
            </a:r>
            <a:endParaRPr lang="en-US" sz="1050" dirty="0"/>
          </a:p>
        </p:txBody>
      </p:sp>
      <p:sp>
        <p:nvSpPr>
          <p:cNvPr id="71" name="Text 69"/>
          <p:cNvSpPr txBox="1"/>
          <p:nvPr/>
        </p:nvSpPr>
        <p:spPr>
          <a:xfrm>
            <a:off x="4865294" y="4965192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vs. import rules and shared coordinates.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4865294" y="5797296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4865294" y="5843016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6191860" y="58430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7188556" y="4123944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76" name="Text 74"/>
          <p:cNvSpPr txBox="1"/>
          <p:nvPr/>
        </p:nvSpPr>
        <p:spPr>
          <a:xfrm>
            <a:off x="7316572" y="4215384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BIM-607</a:t>
            </a:r>
            <a:endParaRPr lang="en-US" sz="800" dirty="0"/>
          </a:p>
        </p:txBody>
      </p:sp>
      <p:sp>
        <p:nvSpPr>
          <p:cNvPr id="77" name="Text 75"/>
          <p:cNvSpPr txBox="1"/>
          <p:nvPr/>
        </p:nvSpPr>
        <p:spPr>
          <a:xfrm>
            <a:off x="7316572" y="4416552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Keynoting Standard</a:t>
            </a:r>
            <a:endParaRPr lang="en-US" sz="1050" dirty="0"/>
          </a:p>
        </p:txBody>
      </p:sp>
      <p:sp>
        <p:nvSpPr>
          <p:cNvPr id="78" name="Text 76"/>
          <p:cNvSpPr txBox="1"/>
          <p:nvPr/>
        </p:nvSpPr>
        <p:spPr>
          <a:xfrm>
            <a:off x="7316572" y="4965192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Keynote file location and numbering convention.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7316572" y="5797296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7316572" y="5843016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643137" y="58430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9639833" y="4123944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83" name="Text 81"/>
          <p:cNvSpPr txBox="1"/>
          <p:nvPr/>
        </p:nvSpPr>
        <p:spPr>
          <a:xfrm>
            <a:off x="9767849" y="4215384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BIM-608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11158423" y="42062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C1432A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1158423" y="42062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endParaRPr lang="en-US" sz="650" dirty="0"/>
          </a:p>
        </p:txBody>
      </p:sp>
      <p:sp>
        <p:nvSpPr>
          <p:cNvPr id="86" name="Text 84"/>
          <p:cNvSpPr txBox="1"/>
          <p:nvPr/>
        </p:nvSpPr>
        <p:spPr>
          <a:xfrm>
            <a:off x="9767849" y="4416552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Health &amp; Audit Checklist</a:t>
            </a:r>
            <a:endParaRPr lang="en-US" sz="1050" dirty="0"/>
          </a:p>
        </p:txBody>
      </p:sp>
      <p:sp>
        <p:nvSpPr>
          <p:cNvPr id="87" name="Text 85"/>
          <p:cNvSpPr txBox="1"/>
          <p:nvPr/>
        </p:nvSpPr>
        <p:spPr>
          <a:xfrm>
            <a:off x="9767849" y="4965192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checklist for purging and warnings review.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9767849" y="5797296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9767849" y="5843016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Sheet</a:t>
            </a:r>
            <a:endParaRPr lang="en-US" sz="750" dirty="0"/>
          </a:p>
        </p:txBody>
      </p:sp>
      <p:sp>
        <p:nvSpPr>
          <p:cNvPr id="90" name="Text 88"/>
          <p:cNvSpPr txBox="1"/>
          <p:nvPr/>
        </p:nvSpPr>
        <p:spPr>
          <a:xfrm>
            <a:off x="11094415" y="58430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772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6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Concept to Live Site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1691640"/>
            <a:ext cx="384048" cy="384048"/>
          </a:xfrm>
          <a:prstGeom prst="ellipse">
            <a:avLst/>
          </a:prstGeom>
          <a:solidFill>
            <a:srgbClr val="C143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642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the look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3852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layout, colors, and sections shown in this deck.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2560320"/>
            <a:ext cx="384048" cy="384048"/>
          </a:xfrm>
          <a:prstGeom prst="ellipse">
            <a:avLst/>
          </a:prstGeom>
          <a:solidFill>
            <a:srgbClr val="C143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328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Google Sites theme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0720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Sites, use Insert → Themes to apply the palette and fonts below.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3429000"/>
            <a:ext cx="384048" cy="384048"/>
          </a:xfrm>
          <a:prstGeom prst="ellipse">
            <a:avLst/>
          </a:prstGeom>
          <a:solidFill>
            <a:srgbClr val="C1432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401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each page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67588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Recreate each section natively in Sites using text boxes, buttons, and embedded Drive files.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4297680"/>
            <a:ext cx="384048" cy="384048"/>
          </a:xfrm>
          <a:prstGeom prst="ellipse">
            <a:avLst/>
          </a:prstGeom>
          <a:solidFill>
            <a:srgbClr val="C1432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2702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real links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54456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in your actual Drive, Docs, Sheets, and Forms URLs — none are live yet.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92240" y="1691640"/>
            <a:ext cx="4937760" cy="4892040"/>
          </a:xfrm>
          <a:prstGeom prst="roundRect">
            <a:avLst>
              <a:gd name="adj" fmla="val 1121"/>
            </a:avLst>
          </a:prstGeom>
          <a:solidFill>
            <a:srgbClr val="0F2A46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66560" y="182880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THEME SPEC — FOR THE SITES COLOR PICKER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2157984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40" kern="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EAD BRAND — OFFICIAL (from EAD_Branding_Sheet.pdf)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766560" y="2395728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22049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242048" y="240487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— Navy (Pantone 282 C)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7242048" y="257860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#022049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766560" y="283464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4B4B4B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42048" y="2843784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— Charcoal (Pantone 2336 C)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7242048" y="301752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#4b4b4b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6766560" y="3364992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4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CONCEPT ACCENT COLORS (this sample deck only)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766560" y="3602736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C1432A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242048" y="3611880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 (Redline)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242048" y="3785616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#C1432A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766560" y="4041648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B8842A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242048" y="405079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7242048" y="4224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#B8842A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766560" y="448056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3E7D5C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242048" y="4489704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/ Required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7242048" y="466344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#3E7D5C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766560" y="4974336"/>
            <a:ext cx="4389120" cy="0"/>
          </a:xfrm>
          <a:prstGeom prst="line">
            <a:avLst/>
          </a:prstGeom>
          <a:noFill/>
          <a:ln w="9525">
            <a:solidFill>
              <a:srgbClr val="2C547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766560" y="513892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FONTS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6766560" y="5358384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EAD official: Gotham (Light / Book / Medium / Bold)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6766560" y="557784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sample deck uses Arial / Calibri as a stand-in, since Gotham isn't a built-in font here.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6766560" y="5943600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Logo: EAD LOGO BLUE TYPE NO BACKGROUND_300dpi.png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SAMPLE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77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Hub — Folder Structure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29844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folders that drive every auto-updating page — upload a file here, it shows up on the site. No page edit needed.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5943600" cy="4617720"/>
          </a:xfrm>
          <a:prstGeom prst="roundRect">
            <a:avLst>
              <a:gd name="adj" fmla="val 1188"/>
            </a:avLst>
          </a:prstGeom>
          <a:solidFill>
            <a:srgbClr val="0F2A46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202996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TAB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304288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01 Office Standards/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Office Standards Manual/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Drafting Standards/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File Naming &amp; Project Setup/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02 Templates/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Drawing Title Blocks/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03 Forms/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HR Forms/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Finance Forms/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Project Admin Forms/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04 Office Policies/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Employee Handbook/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Health &amp; Safety/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Remote Work &amp; IT Use/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Benefits &amp; HR Policies/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05 SOPs/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Project Kickoff/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QA-QC Review/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Submittal Review/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Client Onboarding/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File Backup &amp; Archiving/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06 Revit Standards/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(no subfolders — flat)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903720" y="1874520"/>
            <a:ext cx="4526280" cy="4617720"/>
          </a:xfrm>
          <a:prstGeom prst="roundRect">
            <a:avLst>
              <a:gd name="adj" fmla="val 1212"/>
            </a:avLst>
          </a:prstGeom>
          <a:solidFill>
            <a:srgbClr val="0F2A46"/>
          </a:solidFill>
          <a:ln w="12700">
            <a:solidFill>
              <a:srgbClr val="C143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0" y="202996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 SESSIONS — GROUPED BY MONTH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2304288"/>
            <a:ext cx="4114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Learning Sessions/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September 2026/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2026-09-04_Revit Keynoting Tips/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2026-09-11_Title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2026-09-18_Title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October 2026/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2026-10-02_Title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2026-10-09_Title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2026-10-16_Title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2026-10-23_Title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2026-10-30_Title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November 2026/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└── 2026-11-06_Title of Learning Session/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0" y="58064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convention: YYYY-MM-DD_Title of Learning Session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Office Hub — Website Concept</dc:title>
  <dc:subject>PptxGenJS Presentation</dc:subject>
  <dc:creator>Studio Name Architects</dc:creator>
  <cp:lastModifiedBy>Studio Name Architects</cp:lastModifiedBy>
  <cp:revision>1</cp:revision>
  <dcterms:created xsi:type="dcterms:W3CDTF">2026-08-31T22:13:48Z</dcterms:created>
  <dcterms:modified xsi:type="dcterms:W3CDTF">2026-08-31T22:13:48Z</dcterms:modified>
</cp:coreProperties>
</file>