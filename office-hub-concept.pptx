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0"/>
            <a:ext cx="0" cy="6858000"/>
          </a:xfrm>
          <a:prstGeom prst="line">
            <a:avLst/>
          </a:prstGeom>
          <a:noFill/>
          <a:ln w="6350">
            <a:solidFill>
              <a:srgbClr val="1D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6350">
            <a:solidFill>
              <a:srgbClr val="1D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6858000"/>
          </a:xfrm>
          <a:prstGeom prst="line">
            <a:avLst/>
          </a:prstGeom>
          <a:noFill/>
          <a:ln w="6350">
            <a:solidFill>
              <a:srgbClr val="1D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6350">
            <a:solidFill>
              <a:srgbClr val="1D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1D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6350">
            <a:solidFill>
              <a:srgbClr val="1D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6350">
            <a:solidFill>
              <a:srgbClr val="1D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6350">
            <a:solidFill>
              <a:srgbClr val="1D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0"/>
            <a:ext cx="0" cy="6858000"/>
          </a:xfrm>
          <a:prstGeom prst="line">
            <a:avLst/>
          </a:prstGeom>
          <a:noFill/>
          <a:ln w="6350">
            <a:solidFill>
              <a:srgbClr val="1D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1D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D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6350">
            <a:solidFill>
              <a:srgbClr val="1D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0" y="0"/>
            <a:ext cx="0" cy="6858000"/>
          </a:xfrm>
          <a:prstGeom prst="line">
            <a:avLst/>
          </a:prstGeom>
          <a:noFill/>
          <a:ln w="6350">
            <a:solidFill>
              <a:srgbClr val="1D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6350">
            <a:solidFill>
              <a:srgbClr val="1D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1D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6350">
            <a:solidFill>
              <a:srgbClr val="1D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6350">
            <a:solidFill>
              <a:srgbClr val="1D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6350">
            <a:solidFill>
              <a:srgbClr val="1D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6350">
            <a:solidFill>
              <a:srgbClr val="1D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1D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6350">
            <a:solidFill>
              <a:srgbClr val="1D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6350">
            <a:solidFill>
              <a:srgbClr val="1D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48640"/>
            <a:ext cx="12191695" cy="0"/>
          </a:xfrm>
          <a:prstGeom prst="line">
            <a:avLst/>
          </a:prstGeom>
          <a:noFill/>
          <a:ln w="6350">
            <a:solidFill>
              <a:srgbClr val="1D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6350">
            <a:solidFill>
              <a:srgbClr val="1D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645920"/>
            <a:ext cx="12191695" cy="0"/>
          </a:xfrm>
          <a:prstGeom prst="line">
            <a:avLst/>
          </a:prstGeom>
          <a:noFill/>
          <a:ln w="6350">
            <a:solidFill>
              <a:srgbClr val="1D3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194560"/>
            <a:ext cx="12191695" cy="0"/>
          </a:xfrm>
          <a:prstGeom prst="line">
            <a:avLst/>
          </a:prstGeom>
          <a:noFill/>
          <a:ln w="6350">
            <a:solidFill>
              <a:srgbClr val="1D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6350">
            <a:solidFill>
              <a:srgbClr val="1D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6350">
            <a:solidFill>
              <a:srgbClr val="1D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6350">
            <a:solidFill>
              <a:srgbClr val="1D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389120"/>
            <a:ext cx="12191695" cy="0"/>
          </a:xfrm>
          <a:prstGeom prst="line">
            <a:avLst/>
          </a:prstGeom>
          <a:noFill/>
          <a:ln w="6350">
            <a:solidFill>
              <a:srgbClr val="1D3A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937760"/>
            <a:ext cx="12191695" cy="0"/>
          </a:xfrm>
          <a:prstGeom prst="line">
            <a:avLst/>
          </a:prstGeom>
          <a:noFill/>
          <a:ln w="6350">
            <a:solidFill>
              <a:srgbClr val="1D3A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6350">
            <a:solidFill>
              <a:srgbClr val="1D3A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D3A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583680"/>
            <a:ext cx="12191695" cy="0"/>
          </a:xfrm>
          <a:prstGeom prst="line">
            <a:avLst/>
          </a:prstGeom>
          <a:noFill/>
          <a:ln w="6350">
            <a:solidFill>
              <a:srgbClr val="1D3A5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296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STUDIO NAME ARCHITECTS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77240" y="18288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100" kern="0" dirty="0">
                <a:solidFill>
                  <a:srgbClr val="F4F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HUB</a:t>
            </a:r>
            <a:endParaRPr lang="en-US" sz="64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" y="30632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website concept for office standards, templates, forms, policies,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SOPs, and Revit standards — all in one searchable hub.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822960" y="4160520"/>
            <a:ext cx="3246120" cy="457200"/>
          </a:xfrm>
          <a:prstGeom prst="roundRect">
            <a:avLst>
              <a:gd name="adj" fmla="val 12000"/>
            </a:avLst>
          </a:prstGeom>
          <a:solidFill>
            <a:srgbClr val="C1432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22960" y="41605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SAMPLE — NO LIVE LINKS YET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C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Prepared for internal review · 28 August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BFCFC"/>
          </a:solidFill>
          <a:ln w="19050">
            <a:solidFill>
              <a:srgbClr val="1C25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46120" y="73152"/>
            <a:ext cx="0" cy="694944"/>
          </a:xfrm>
          <a:prstGeom prst="line">
            <a:avLst/>
          </a:prstGeom>
          <a:noFill/>
          <a:ln w="9525">
            <a:solidFill>
              <a:srgbClr val="C9D1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73152"/>
            <a:ext cx="0" cy="694944"/>
          </a:xfrm>
          <a:prstGeom prst="line">
            <a:avLst/>
          </a:prstGeom>
          <a:noFill/>
          <a:ln w="9525">
            <a:solidFill>
              <a:srgbClr val="C9D1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73152"/>
            <a:ext cx="0" cy="694944"/>
          </a:xfrm>
          <a:prstGeom prst="line">
            <a:avLst/>
          </a:prstGeom>
          <a:noFill/>
          <a:ln w="9525">
            <a:solidFill>
              <a:srgbClr val="C9D1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6032" y="1188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NAME ARCHITECTS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56032" y="4206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OFFICE HUB — WEBSITE CONCEPT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456432" y="246888"/>
            <a:ext cx="5394960" cy="347472"/>
          </a:xfrm>
          <a:prstGeom prst="roundRect">
            <a:avLst>
              <a:gd name="adj" fmla="val 15789"/>
            </a:avLst>
          </a:prstGeom>
          <a:solidFill>
            <a:srgbClr val="EEF1F3"/>
          </a:solidFill>
          <a:ln w="12700">
            <a:solidFill>
              <a:srgbClr val="C9D1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39312" y="24688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standards, templates, forms, SOPs, Revit standards…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17152" y="1280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9217152" y="3108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AUG 2026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118872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1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841248"/>
            <a:ext cx="1965960" cy="6016752"/>
          </a:xfrm>
          <a:prstGeom prst="rect">
            <a:avLst/>
          </a:prstGeom>
          <a:solidFill>
            <a:srgbClr val="FBFCFC"/>
          </a:solidFill>
          <a:ln w="9525">
            <a:solidFill>
              <a:srgbClr val="C9D1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2880" y="9692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SHEET INDEX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0" y="1243584"/>
            <a:ext cx="1965960" cy="512064"/>
          </a:xfrm>
          <a:prstGeom prst="rect">
            <a:avLst/>
          </a:prstGeom>
          <a:solidFill>
            <a:srgbClr val="E3E8EA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1243584"/>
            <a:ext cx="45720" cy="512064"/>
          </a:xfrm>
          <a:prstGeom prst="rect">
            <a:avLst/>
          </a:prstGeom>
          <a:solidFill>
            <a:srgbClr val="C1432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82880" y="12618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G-000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82880" y="14538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82880" y="181051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G-001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82880" y="200253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82880" y="23591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A-100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82880" y="255117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Standards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82880" y="2907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A-200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82880" y="30998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82880" y="345643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A-300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82880" y="36484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82880" y="40050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A-400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182880" y="41970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Policies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82880" y="455371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A-500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82880" y="474573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82880" y="51023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A-600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182880" y="529437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Revit Standards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82880" y="56509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A-700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182880" y="58430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Directory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2286000" y="98755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50" kern="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2286000" y="1408176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links, pinned resources, and the latest announcements — one page, everything the office needs.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10698480" y="102412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SHEET G-000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286000" y="1773936"/>
            <a:ext cx="9585655" cy="0"/>
          </a:xfrm>
          <a:prstGeom prst="line">
            <a:avLst/>
          </a:prstGeom>
          <a:noFill/>
          <a:ln w="15875">
            <a:solidFill>
              <a:srgbClr val="1C253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86000" y="1956816"/>
            <a:ext cx="1475689" cy="566928"/>
          </a:xfrm>
          <a:prstGeom prst="roundRect">
            <a:avLst>
              <a:gd name="adj" fmla="val 8065"/>
            </a:avLst>
          </a:prstGeom>
          <a:solidFill>
            <a:srgbClr val="E3E8EA"/>
          </a:solidFill>
          <a:ln w="12700">
            <a:solidFill>
              <a:srgbClr val="C9D1D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286000" y="1956816"/>
            <a:ext cx="14756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907993" y="1956816"/>
            <a:ext cx="1475689" cy="566928"/>
          </a:xfrm>
          <a:prstGeom prst="roundRect">
            <a:avLst>
              <a:gd name="adj" fmla="val 8065"/>
            </a:avLst>
          </a:prstGeom>
          <a:solidFill>
            <a:srgbClr val="E3E8EA"/>
          </a:solidFill>
          <a:ln w="12700">
            <a:solidFill>
              <a:srgbClr val="C9D1D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907993" y="1956816"/>
            <a:ext cx="14756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529986" y="1956816"/>
            <a:ext cx="1475689" cy="566928"/>
          </a:xfrm>
          <a:prstGeom prst="roundRect">
            <a:avLst>
              <a:gd name="adj" fmla="val 8065"/>
            </a:avLst>
          </a:prstGeom>
          <a:solidFill>
            <a:srgbClr val="E3E8EA"/>
          </a:solidFill>
          <a:ln w="12700">
            <a:solidFill>
              <a:srgbClr val="C9D1D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529986" y="1956816"/>
            <a:ext cx="14756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151980" y="1956816"/>
            <a:ext cx="1475689" cy="566928"/>
          </a:xfrm>
          <a:prstGeom prst="roundRect">
            <a:avLst>
              <a:gd name="adj" fmla="val 8065"/>
            </a:avLst>
          </a:prstGeom>
          <a:solidFill>
            <a:srgbClr val="E3E8EA"/>
          </a:solidFill>
          <a:ln w="12700">
            <a:solidFill>
              <a:srgbClr val="C9D1D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151980" y="1956816"/>
            <a:ext cx="14756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773973" y="1956816"/>
            <a:ext cx="1475689" cy="566928"/>
          </a:xfrm>
          <a:prstGeom prst="roundRect">
            <a:avLst>
              <a:gd name="adj" fmla="val 8065"/>
            </a:avLst>
          </a:prstGeom>
          <a:solidFill>
            <a:srgbClr val="E3E8EA"/>
          </a:solidFill>
          <a:ln w="12700">
            <a:solidFill>
              <a:srgbClr val="C9D1D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773973" y="1956816"/>
            <a:ext cx="14756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0395966" y="1956816"/>
            <a:ext cx="1475689" cy="566928"/>
          </a:xfrm>
          <a:prstGeom prst="roundRect">
            <a:avLst>
              <a:gd name="adj" fmla="val 8065"/>
            </a:avLst>
          </a:prstGeom>
          <a:solidFill>
            <a:srgbClr val="E3E8EA"/>
          </a:solidFill>
          <a:ln w="12700">
            <a:solidFill>
              <a:srgbClr val="C9D1D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395966" y="1956816"/>
            <a:ext cx="14756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REVIT STD.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2286000" y="27432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PINNED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286000" y="3017520"/>
            <a:ext cx="3048914" cy="1737360"/>
          </a:xfrm>
          <a:prstGeom prst="roundRect">
            <a:avLst>
              <a:gd name="adj" fmla="val 2632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8000"/>
              </a:srgbClr>
            </a:outerShdw>
          </a:effectLst>
        </p:spPr>
      </p:sp>
      <p:sp>
        <p:nvSpPr>
          <p:cNvPr id="53" name="Text 51"/>
          <p:cNvSpPr txBox="1"/>
          <p:nvPr/>
        </p:nvSpPr>
        <p:spPr>
          <a:xfrm>
            <a:off x="2414016" y="3108960"/>
            <a:ext cx="16769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BIM-601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621682" y="3099816"/>
            <a:ext cx="621792" cy="173736"/>
          </a:xfrm>
          <a:prstGeom prst="roundRect">
            <a:avLst>
              <a:gd name="adj" fmla="val 15789"/>
            </a:avLst>
          </a:prstGeom>
          <a:solidFill>
            <a:srgbClr val="FBFCFC"/>
          </a:solidFill>
          <a:ln w="9525">
            <a:solidFill>
              <a:srgbClr val="3E7D5C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621682" y="3099816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3E7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endParaRPr lang="en-US" sz="650" dirty="0"/>
          </a:p>
        </p:txBody>
      </p:sp>
      <p:sp>
        <p:nvSpPr>
          <p:cNvPr id="56" name="Text 54"/>
          <p:cNvSpPr txBox="1"/>
          <p:nvPr/>
        </p:nvSpPr>
        <p:spPr>
          <a:xfrm>
            <a:off x="2414016" y="3310128"/>
            <a:ext cx="27928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Setup Protocol</a:t>
            </a:r>
            <a:endParaRPr lang="en-US" sz="1150" dirty="0"/>
          </a:p>
        </p:txBody>
      </p:sp>
      <p:sp>
        <p:nvSpPr>
          <p:cNvPr id="57" name="Text 55"/>
          <p:cNvSpPr txBox="1"/>
          <p:nvPr/>
        </p:nvSpPr>
        <p:spPr>
          <a:xfrm>
            <a:off x="2414016" y="3858768"/>
            <a:ext cx="27928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file location, worksets, and sync frequency for shared Revit models.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414016" y="4462272"/>
            <a:ext cx="2792882" cy="0"/>
          </a:xfrm>
          <a:prstGeom prst="line">
            <a:avLst/>
          </a:prstGeom>
          <a:noFill/>
          <a:ln w="6350">
            <a:solidFill>
              <a:srgbClr val="C9D1D6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2414016" y="4507992"/>
            <a:ext cx="18293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</a:t>
            </a:r>
            <a:endParaRPr lang="en-US" sz="750" dirty="0"/>
          </a:p>
        </p:txBody>
      </p:sp>
      <p:sp>
        <p:nvSpPr>
          <p:cNvPr id="60" name="Text 58"/>
          <p:cNvSpPr txBox="1"/>
          <p:nvPr/>
        </p:nvSpPr>
        <p:spPr>
          <a:xfrm>
            <a:off x="4557674" y="450799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↗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5554370" y="3017520"/>
            <a:ext cx="3048914" cy="1737360"/>
          </a:xfrm>
          <a:prstGeom prst="roundRect">
            <a:avLst>
              <a:gd name="adj" fmla="val 2632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8000"/>
              </a:srgbClr>
            </a:outerShdw>
          </a:effectLst>
        </p:spPr>
      </p:sp>
      <p:sp>
        <p:nvSpPr>
          <p:cNvPr id="62" name="Text 60"/>
          <p:cNvSpPr txBox="1"/>
          <p:nvPr/>
        </p:nvSpPr>
        <p:spPr>
          <a:xfrm>
            <a:off x="5682386" y="3108960"/>
            <a:ext cx="16769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STD-101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890053" y="3099816"/>
            <a:ext cx="621792" cy="173736"/>
          </a:xfrm>
          <a:prstGeom prst="roundRect">
            <a:avLst>
              <a:gd name="adj" fmla="val 15789"/>
            </a:avLst>
          </a:prstGeom>
          <a:solidFill>
            <a:srgbClr val="FBFCFC"/>
          </a:solidFill>
          <a:ln w="9525">
            <a:solidFill>
              <a:srgbClr val="3E7D5C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890053" y="3099816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3E7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endParaRPr lang="en-US" sz="650" dirty="0"/>
          </a:p>
        </p:txBody>
      </p:sp>
      <p:sp>
        <p:nvSpPr>
          <p:cNvPr id="65" name="Text 63"/>
          <p:cNvSpPr txBox="1"/>
          <p:nvPr/>
        </p:nvSpPr>
        <p:spPr>
          <a:xfrm>
            <a:off x="5682386" y="3310128"/>
            <a:ext cx="27928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 &amp; CAD Standards</a:t>
            </a:r>
            <a:endParaRPr lang="en-US" sz="1150" dirty="0"/>
          </a:p>
        </p:txBody>
      </p:sp>
      <p:sp>
        <p:nvSpPr>
          <p:cNvPr id="66" name="Text 64"/>
          <p:cNvSpPr txBox="1"/>
          <p:nvPr/>
        </p:nvSpPr>
        <p:spPr>
          <a:xfrm>
            <a:off x="5682386" y="3858768"/>
            <a:ext cx="27928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weights, layer naming, and dimensioning conventions.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5682386" y="4462272"/>
            <a:ext cx="2792882" cy="0"/>
          </a:xfrm>
          <a:prstGeom prst="line">
            <a:avLst/>
          </a:prstGeom>
          <a:noFill/>
          <a:ln w="6350">
            <a:solidFill>
              <a:srgbClr val="C9D1D6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5682386" y="4507992"/>
            <a:ext cx="18293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</a:t>
            </a:r>
            <a:endParaRPr lang="en-US" sz="750" dirty="0"/>
          </a:p>
        </p:txBody>
      </p:sp>
      <p:sp>
        <p:nvSpPr>
          <p:cNvPr id="69" name="Text 67"/>
          <p:cNvSpPr txBox="1"/>
          <p:nvPr/>
        </p:nvSpPr>
        <p:spPr>
          <a:xfrm>
            <a:off x="7826045" y="450799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↗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8822741" y="3017520"/>
            <a:ext cx="3048914" cy="1737360"/>
          </a:xfrm>
          <a:prstGeom prst="roundRect">
            <a:avLst>
              <a:gd name="adj" fmla="val 2632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8000"/>
              </a:srgbClr>
            </a:outerShdw>
          </a:effectLst>
        </p:spPr>
      </p:sp>
      <p:sp>
        <p:nvSpPr>
          <p:cNvPr id="71" name="Text 69"/>
          <p:cNvSpPr txBox="1"/>
          <p:nvPr/>
        </p:nvSpPr>
        <p:spPr>
          <a:xfrm>
            <a:off x="8950757" y="3108960"/>
            <a:ext cx="16769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SOP-501</a:t>
            </a:r>
            <a:endParaRPr lang="en-US" sz="800" dirty="0"/>
          </a:p>
        </p:txBody>
      </p:sp>
      <p:sp>
        <p:nvSpPr>
          <p:cNvPr id="72" name="Text 70"/>
          <p:cNvSpPr txBox="1"/>
          <p:nvPr/>
        </p:nvSpPr>
        <p:spPr>
          <a:xfrm>
            <a:off x="8950757" y="3310128"/>
            <a:ext cx="27928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Kickoff SOP</a:t>
            </a:r>
            <a:endParaRPr lang="en-US" sz="1150" dirty="0"/>
          </a:p>
        </p:txBody>
      </p:sp>
      <p:sp>
        <p:nvSpPr>
          <p:cNvPr id="73" name="Text 71"/>
          <p:cNvSpPr txBox="1"/>
          <p:nvPr/>
        </p:nvSpPr>
        <p:spPr>
          <a:xfrm>
            <a:off x="8950757" y="3858768"/>
            <a:ext cx="27928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Numbering, folder structure, and team setup for new projects.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8950757" y="4462272"/>
            <a:ext cx="2792882" cy="0"/>
          </a:xfrm>
          <a:prstGeom prst="line">
            <a:avLst/>
          </a:prstGeom>
          <a:noFill/>
          <a:ln w="6350">
            <a:solidFill>
              <a:srgbClr val="C9D1D6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8950757" y="4507992"/>
            <a:ext cx="18293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Doc</a:t>
            </a:r>
            <a:endParaRPr lang="en-US" sz="750" dirty="0"/>
          </a:p>
        </p:txBody>
      </p:sp>
      <p:sp>
        <p:nvSpPr>
          <p:cNvPr id="76" name="Text 74"/>
          <p:cNvSpPr txBox="1"/>
          <p:nvPr/>
        </p:nvSpPr>
        <p:spPr>
          <a:xfrm>
            <a:off x="11094415" y="450799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↗</a:t>
            </a:r>
            <a:endParaRPr lang="en-US" sz="750" dirty="0"/>
          </a:p>
        </p:txBody>
      </p:sp>
      <p:sp>
        <p:nvSpPr>
          <p:cNvPr id="77" name="Text 75"/>
          <p:cNvSpPr txBox="1"/>
          <p:nvPr/>
        </p:nvSpPr>
        <p:spPr>
          <a:xfrm>
            <a:off x="2286000" y="49560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LATEST ANNOUNCEMENT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286000" y="5212080"/>
            <a:ext cx="9585655" cy="658368"/>
          </a:xfrm>
          <a:prstGeom prst="roundRect">
            <a:avLst>
              <a:gd name="adj" fmla="val 6944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286000" y="5212080"/>
            <a:ext cx="45720" cy="658368"/>
          </a:xfrm>
          <a:prstGeom prst="rect">
            <a:avLst/>
          </a:prstGeom>
          <a:solidFill>
            <a:srgbClr val="C1432A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2514600" y="52852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Revit 2027 rollout begins next month</a:t>
            </a:r>
            <a:endParaRPr lang="en-US" sz="1100" dirty="0"/>
          </a:p>
        </p:txBody>
      </p:sp>
      <p:sp>
        <p:nvSpPr>
          <p:cNvPr id="81" name="Text 79"/>
          <p:cNvSpPr txBox="1"/>
          <p:nvPr/>
        </p:nvSpPr>
        <p:spPr>
          <a:xfrm>
            <a:off x="2514600" y="554126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will begin migrating active projects starting mid-September. Watch for your migration window.</a:t>
            </a:r>
            <a:endParaRPr lang="en-US" sz="950" dirty="0"/>
          </a:p>
        </p:txBody>
      </p:sp>
      <p:sp>
        <p:nvSpPr>
          <p:cNvPr id="82" name="Text 80"/>
          <p:cNvSpPr txBox="1"/>
          <p:nvPr/>
        </p:nvSpPr>
        <p:spPr>
          <a:xfrm>
            <a:off x="10728655" y="52852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AUG 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BFCFC"/>
          </a:solidFill>
          <a:ln w="19050">
            <a:solidFill>
              <a:srgbClr val="1C25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46120" y="73152"/>
            <a:ext cx="0" cy="694944"/>
          </a:xfrm>
          <a:prstGeom prst="line">
            <a:avLst/>
          </a:prstGeom>
          <a:noFill/>
          <a:ln w="9525">
            <a:solidFill>
              <a:srgbClr val="C9D1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73152"/>
            <a:ext cx="0" cy="694944"/>
          </a:xfrm>
          <a:prstGeom prst="line">
            <a:avLst/>
          </a:prstGeom>
          <a:noFill/>
          <a:ln w="9525">
            <a:solidFill>
              <a:srgbClr val="C9D1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73152"/>
            <a:ext cx="0" cy="694944"/>
          </a:xfrm>
          <a:prstGeom prst="line">
            <a:avLst/>
          </a:prstGeom>
          <a:noFill/>
          <a:ln w="9525">
            <a:solidFill>
              <a:srgbClr val="C9D1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6032" y="1188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NAME ARCHITECTS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56032" y="4206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OFFICE HUB — WEBSITE CONCEPT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456432" y="246888"/>
            <a:ext cx="5394960" cy="347472"/>
          </a:xfrm>
          <a:prstGeom prst="roundRect">
            <a:avLst>
              <a:gd name="adj" fmla="val 15789"/>
            </a:avLst>
          </a:prstGeom>
          <a:solidFill>
            <a:srgbClr val="EEF1F3"/>
          </a:solidFill>
          <a:ln w="12700">
            <a:solidFill>
              <a:srgbClr val="C9D1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39312" y="24688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standards, templates, forms, SOPs, Revit standards…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17152" y="1280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9217152" y="3108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AUG 2026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118872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1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841248"/>
            <a:ext cx="1965960" cy="6016752"/>
          </a:xfrm>
          <a:prstGeom prst="rect">
            <a:avLst/>
          </a:prstGeom>
          <a:solidFill>
            <a:srgbClr val="FBFCFC"/>
          </a:solidFill>
          <a:ln w="9525">
            <a:solidFill>
              <a:srgbClr val="C9D1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2880" y="9692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SHEET INDEX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" y="12618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G-000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182880" y="14538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1792224"/>
            <a:ext cx="1965960" cy="512064"/>
          </a:xfrm>
          <a:prstGeom prst="rect">
            <a:avLst/>
          </a:prstGeom>
          <a:solidFill>
            <a:srgbClr val="E3E8EA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1792224"/>
            <a:ext cx="45720" cy="512064"/>
          </a:xfrm>
          <a:prstGeom prst="rect">
            <a:avLst/>
          </a:prstGeom>
          <a:solidFill>
            <a:srgbClr val="C1432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82880" y="181051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G-001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82880" y="200253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82880" y="23591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A-100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82880" y="255117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Standards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82880" y="2907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A-200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82880" y="30998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82880" y="345643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A-300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82880" y="36484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82880" y="40050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A-400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182880" y="41970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Policies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82880" y="455371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A-500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82880" y="474573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82880" y="51023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A-600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182880" y="529437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Revit Standards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82880" y="56509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A-700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182880" y="58430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Directory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2286000" y="98755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50" kern="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Announcements &amp; Reminders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2286000" y="1408176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office notices, deadlines, closures, and IT maintenance windows.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10698480" y="102412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SHEET G-001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286000" y="1773936"/>
            <a:ext cx="9585655" cy="0"/>
          </a:xfrm>
          <a:prstGeom prst="line">
            <a:avLst/>
          </a:prstGeom>
          <a:noFill/>
          <a:ln w="15875">
            <a:solidFill>
              <a:srgbClr val="1C253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86000" y="1956816"/>
            <a:ext cx="9585655" cy="896112"/>
          </a:xfrm>
          <a:prstGeom prst="roundRect">
            <a:avLst>
              <a:gd name="adj" fmla="val 5102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86000" y="1956816"/>
            <a:ext cx="54864" cy="896112"/>
          </a:xfrm>
          <a:prstGeom prst="rect">
            <a:avLst/>
          </a:prstGeom>
          <a:solidFill>
            <a:srgbClr val="B8842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532888" y="20482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closed — Labor Day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2532888" y="235915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closed Monday, September 7. Deadlines falling on this date shift to September 8.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10591495" y="204825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SEP 2026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286000" y="3017520"/>
            <a:ext cx="9585655" cy="896112"/>
          </a:xfrm>
          <a:prstGeom prst="roundRect">
            <a:avLst>
              <a:gd name="adj" fmla="val 5102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86000" y="3017520"/>
            <a:ext cx="54864" cy="896112"/>
          </a:xfrm>
          <a:prstGeom prst="rect">
            <a:avLst/>
          </a:prstGeom>
          <a:solidFill>
            <a:srgbClr val="B8842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2532888" y="3108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Revit 2027 rollout begins next month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2532888" y="3419856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will begin migrating active projects starting mid-September. Watch for your migration window.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10591495" y="31089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AUG 2026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286000" y="4078224"/>
            <a:ext cx="9585655" cy="896112"/>
          </a:xfrm>
          <a:prstGeom prst="roundRect">
            <a:avLst>
              <a:gd name="adj" fmla="val 5102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286000" y="4078224"/>
            <a:ext cx="54864" cy="896112"/>
          </a:xfrm>
          <a:prstGeom prst="rect">
            <a:avLst/>
          </a:prstGeom>
          <a:solidFill>
            <a:srgbClr val="C9D1D6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2532888" y="4169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QA/QC checkpoint before CD issue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2532888" y="44805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SOP-502 (QA/QC Review SOP) for the updated milestone review requirement.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10591495" y="41696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AUG 2026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286000" y="5138928"/>
            <a:ext cx="9585655" cy="896112"/>
          </a:xfrm>
          <a:prstGeom prst="roundRect">
            <a:avLst>
              <a:gd name="adj" fmla="val 5102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286000" y="5138928"/>
            <a:ext cx="54864" cy="896112"/>
          </a:xfrm>
          <a:prstGeom prst="rect">
            <a:avLst/>
          </a:prstGeom>
          <a:solidFill>
            <a:srgbClr val="C9D1D6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2532888" y="5230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maintenance — Sat 8/30, 6–10am</a:t>
            </a:r>
            <a:endParaRPr lang="en-US" sz="1250" dirty="0"/>
          </a:p>
        </p:txBody>
      </p:sp>
      <p:sp>
        <p:nvSpPr>
          <p:cNvPr id="57" name="Text 55"/>
          <p:cNvSpPr txBox="1"/>
          <p:nvPr/>
        </p:nvSpPr>
        <p:spPr>
          <a:xfrm>
            <a:off x="2532888" y="5541264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server and Revit central files will be unavailable during this window.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10591495" y="52303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AUG 2026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BFCFC"/>
          </a:solidFill>
          <a:ln w="19050">
            <a:solidFill>
              <a:srgbClr val="1C25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46120" y="73152"/>
            <a:ext cx="0" cy="694944"/>
          </a:xfrm>
          <a:prstGeom prst="line">
            <a:avLst/>
          </a:prstGeom>
          <a:noFill/>
          <a:ln w="9525">
            <a:solidFill>
              <a:srgbClr val="C9D1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73152"/>
            <a:ext cx="0" cy="694944"/>
          </a:xfrm>
          <a:prstGeom prst="line">
            <a:avLst/>
          </a:prstGeom>
          <a:noFill/>
          <a:ln w="9525">
            <a:solidFill>
              <a:srgbClr val="C9D1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73152"/>
            <a:ext cx="0" cy="694944"/>
          </a:xfrm>
          <a:prstGeom prst="line">
            <a:avLst/>
          </a:prstGeom>
          <a:noFill/>
          <a:ln w="9525">
            <a:solidFill>
              <a:srgbClr val="C9D1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6032" y="1188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NAME ARCHITECTS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56032" y="4206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OFFICE HUB — WEBSITE CONCEPT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456432" y="246888"/>
            <a:ext cx="5394960" cy="347472"/>
          </a:xfrm>
          <a:prstGeom prst="roundRect">
            <a:avLst>
              <a:gd name="adj" fmla="val 15789"/>
            </a:avLst>
          </a:prstGeom>
          <a:solidFill>
            <a:srgbClr val="EEF1F3"/>
          </a:solidFill>
          <a:ln w="12700">
            <a:solidFill>
              <a:srgbClr val="C9D1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39312" y="24688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standards, templates, forms, SOPs, Revit standards…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17152" y="1280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9217152" y="3108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AUG 2026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118872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1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841248"/>
            <a:ext cx="1965960" cy="6016752"/>
          </a:xfrm>
          <a:prstGeom prst="rect">
            <a:avLst/>
          </a:prstGeom>
          <a:solidFill>
            <a:srgbClr val="FBFCFC"/>
          </a:solidFill>
          <a:ln w="9525">
            <a:solidFill>
              <a:srgbClr val="C9D1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2880" y="9692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SHEET INDEX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" y="12618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G-000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182880" y="14538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" y="181051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G-001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82880" y="200253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2340864"/>
            <a:ext cx="1965960" cy="512064"/>
          </a:xfrm>
          <a:prstGeom prst="rect">
            <a:avLst/>
          </a:prstGeom>
          <a:solidFill>
            <a:srgbClr val="E3E8EA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2340864"/>
            <a:ext cx="45720" cy="512064"/>
          </a:xfrm>
          <a:prstGeom prst="rect">
            <a:avLst/>
          </a:prstGeom>
          <a:solidFill>
            <a:srgbClr val="C1432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82880" y="23591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A-100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82880" y="255117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Standards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82880" y="2907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A-200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82880" y="30998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82880" y="345643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A-300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82880" y="36484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82880" y="40050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A-400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182880" y="41970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Policies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82880" y="455371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A-500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82880" y="474573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82880" y="51023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A-600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182880" y="529437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Revit Standards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82880" y="56509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A-700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182880" y="58430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Directory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2286000" y="98755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50" kern="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Standards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2286000" y="1408176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conventions, CAD standards, file naming, and deliverable requirements.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10698480" y="102412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SHEET A-100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286000" y="1773936"/>
            <a:ext cx="9585655" cy="0"/>
          </a:xfrm>
          <a:prstGeom prst="line">
            <a:avLst/>
          </a:prstGeom>
          <a:noFill/>
          <a:ln w="15875">
            <a:solidFill>
              <a:srgbClr val="1C253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86000" y="1956816"/>
            <a:ext cx="3048914" cy="1737360"/>
          </a:xfrm>
          <a:prstGeom prst="roundRect">
            <a:avLst>
              <a:gd name="adj" fmla="val 2632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8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2414016" y="2048256"/>
            <a:ext cx="16769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STD-101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621682" y="2039112"/>
            <a:ext cx="621792" cy="173736"/>
          </a:xfrm>
          <a:prstGeom prst="roundRect">
            <a:avLst>
              <a:gd name="adj" fmla="val 15789"/>
            </a:avLst>
          </a:prstGeom>
          <a:solidFill>
            <a:srgbClr val="FBFCFC"/>
          </a:solidFill>
          <a:ln w="9525">
            <a:solidFill>
              <a:srgbClr val="3E7D5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621682" y="2039112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3E7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endParaRPr lang="en-US" sz="650" dirty="0"/>
          </a:p>
        </p:txBody>
      </p:sp>
      <p:sp>
        <p:nvSpPr>
          <p:cNvPr id="43" name="Text 41"/>
          <p:cNvSpPr txBox="1"/>
          <p:nvPr/>
        </p:nvSpPr>
        <p:spPr>
          <a:xfrm>
            <a:off x="2414016" y="2249424"/>
            <a:ext cx="27928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 &amp; CAD Standards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2414016" y="2798064"/>
            <a:ext cx="27928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weights, layer naming, hatch patterns, and dimensioning conventions.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414016" y="3401568"/>
            <a:ext cx="2792882" cy="0"/>
          </a:xfrm>
          <a:prstGeom prst="line">
            <a:avLst/>
          </a:prstGeom>
          <a:noFill/>
          <a:ln w="6350">
            <a:solidFill>
              <a:srgbClr val="C9D1D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414016" y="3447288"/>
            <a:ext cx="18293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</a:t>
            </a:r>
            <a:endParaRPr lang="en-US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4557674" y="34472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↗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554370" y="1956816"/>
            <a:ext cx="3048914" cy="1737360"/>
          </a:xfrm>
          <a:prstGeom prst="roundRect">
            <a:avLst>
              <a:gd name="adj" fmla="val 2632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8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5682386" y="2048256"/>
            <a:ext cx="16769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STD-102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890053" y="2039112"/>
            <a:ext cx="621792" cy="173736"/>
          </a:xfrm>
          <a:prstGeom prst="roundRect">
            <a:avLst>
              <a:gd name="adj" fmla="val 15789"/>
            </a:avLst>
          </a:prstGeom>
          <a:solidFill>
            <a:srgbClr val="FBFCFC"/>
          </a:solidFill>
          <a:ln w="9525">
            <a:solidFill>
              <a:srgbClr val="3E7D5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890053" y="2039112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3E7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endParaRPr lang="en-US" sz="650" dirty="0"/>
          </a:p>
        </p:txBody>
      </p:sp>
      <p:sp>
        <p:nvSpPr>
          <p:cNvPr id="52" name="Text 50"/>
          <p:cNvSpPr txBox="1"/>
          <p:nvPr/>
        </p:nvSpPr>
        <p:spPr>
          <a:xfrm>
            <a:off x="5682386" y="2249424"/>
            <a:ext cx="27928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Naming Convention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5682386" y="2798064"/>
            <a:ext cx="27928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structure for drawings, models, and project folders.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682386" y="3401568"/>
            <a:ext cx="2792882" cy="0"/>
          </a:xfrm>
          <a:prstGeom prst="line">
            <a:avLst/>
          </a:prstGeom>
          <a:noFill/>
          <a:ln w="6350">
            <a:solidFill>
              <a:srgbClr val="C9D1D6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682386" y="3447288"/>
            <a:ext cx="18293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</a:t>
            </a:r>
            <a:endParaRPr lang="en-US" sz="750" dirty="0"/>
          </a:p>
        </p:txBody>
      </p:sp>
      <p:sp>
        <p:nvSpPr>
          <p:cNvPr id="56" name="Text 54"/>
          <p:cNvSpPr txBox="1"/>
          <p:nvPr/>
        </p:nvSpPr>
        <p:spPr>
          <a:xfrm>
            <a:off x="7826045" y="34472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↗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8822741" y="1956816"/>
            <a:ext cx="3048914" cy="1737360"/>
          </a:xfrm>
          <a:prstGeom prst="roundRect">
            <a:avLst>
              <a:gd name="adj" fmla="val 2632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8000"/>
              </a:srgbClr>
            </a:outerShdw>
          </a:effectLst>
        </p:spPr>
      </p:sp>
      <p:sp>
        <p:nvSpPr>
          <p:cNvPr id="58" name="Text 56"/>
          <p:cNvSpPr txBox="1"/>
          <p:nvPr/>
        </p:nvSpPr>
        <p:spPr>
          <a:xfrm>
            <a:off x="8950757" y="2048256"/>
            <a:ext cx="16769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STD-103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1158423" y="2039112"/>
            <a:ext cx="621792" cy="173736"/>
          </a:xfrm>
          <a:prstGeom prst="roundRect">
            <a:avLst>
              <a:gd name="adj" fmla="val 15789"/>
            </a:avLst>
          </a:prstGeom>
          <a:solidFill>
            <a:srgbClr val="FBFCFC"/>
          </a:solidFill>
          <a:ln w="9525">
            <a:solidFill>
              <a:srgbClr val="3E7D5C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1158423" y="2039112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3E7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endParaRPr lang="en-US" sz="650" dirty="0"/>
          </a:p>
        </p:txBody>
      </p:sp>
      <p:sp>
        <p:nvSpPr>
          <p:cNvPr id="61" name="Text 59"/>
          <p:cNvSpPr txBox="1"/>
          <p:nvPr/>
        </p:nvSpPr>
        <p:spPr>
          <a:xfrm>
            <a:off x="8950757" y="2249424"/>
            <a:ext cx="27928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Sheet Numbering Standard</a:t>
            </a:r>
            <a:endParaRPr lang="en-US" sz="1150" dirty="0"/>
          </a:p>
        </p:txBody>
      </p:sp>
      <p:sp>
        <p:nvSpPr>
          <p:cNvPr id="62" name="Text 60"/>
          <p:cNvSpPr txBox="1"/>
          <p:nvPr/>
        </p:nvSpPr>
        <p:spPr>
          <a:xfrm>
            <a:off x="8950757" y="2798064"/>
            <a:ext cx="27928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 prefixes and sheet sequencing for construction document sets.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8950757" y="3401568"/>
            <a:ext cx="2792882" cy="0"/>
          </a:xfrm>
          <a:prstGeom prst="line">
            <a:avLst/>
          </a:prstGeom>
          <a:noFill/>
          <a:ln w="6350">
            <a:solidFill>
              <a:srgbClr val="C9D1D6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950757" y="3447288"/>
            <a:ext cx="18293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</a:t>
            </a:r>
            <a:endParaRPr lang="en-US" sz="750" dirty="0"/>
          </a:p>
        </p:txBody>
      </p:sp>
      <p:sp>
        <p:nvSpPr>
          <p:cNvPr id="65" name="Text 63"/>
          <p:cNvSpPr txBox="1"/>
          <p:nvPr/>
        </p:nvSpPr>
        <p:spPr>
          <a:xfrm>
            <a:off x="11094415" y="34472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↗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286000" y="3895344"/>
            <a:ext cx="3048914" cy="1737360"/>
          </a:xfrm>
          <a:prstGeom prst="roundRect">
            <a:avLst>
              <a:gd name="adj" fmla="val 2632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8000"/>
              </a:srgbClr>
            </a:outerShdw>
          </a:effectLst>
        </p:spPr>
      </p:sp>
      <p:sp>
        <p:nvSpPr>
          <p:cNvPr id="67" name="Text 65"/>
          <p:cNvSpPr txBox="1"/>
          <p:nvPr/>
        </p:nvSpPr>
        <p:spPr>
          <a:xfrm>
            <a:off x="2414016" y="3986784"/>
            <a:ext cx="16769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STD-104</a:t>
            </a:r>
            <a:endParaRPr lang="en-US" sz="800" dirty="0"/>
          </a:p>
        </p:txBody>
      </p:sp>
      <p:sp>
        <p:nvSpPr>
          <p:cNvPr id="68" name="Text 66"/>
          <p:cNvSpPr txBox="1"/>
          <p:nvPr/>
        </p:nvSpPr>
        <p:spPr>
          <a:xfrm>
            <a:off x="2414016" y="4187952"/>
            <a:ext cx="27928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Standards by Phase</a:t>
            </a:r>
            <a:endParaRPr lang="en-US" sz="1150" dirty="0"/>
          </a:p>
        </p:txBody>
      </p:sp>
      <p:sp>
        <p:nvSpPr>
          <p:cNvPr id="69" name="Text 67"/>
          <p:cNvSpPr txBox="1"/>
          <p:nvPr/>
        </p:nvSpPr>
        <p:spPr>
          <a:xfrm>
            <a:off x="2414016" y="4736592"/>
            <a:ext cx="27928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drawing content at SD, DD, CD, and CA phases.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414016" y="5340096"/>
            <a:ext cx="2792882" cy="0"/>
          </a:xfrm>
          <a:prstGeom prst="line">
            <a:avLst/>
          </a:prstGeom>
          <a:noFill/>
          <a:ln w="6350">
            <a:solidFill>
              <a:srgbClr val="C9D1D6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2414016" y="5385816"/>
            <a:ext cx="18293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Doc</a:t>
            </a:r>
            <a:endParaRPr lang="en-US" sz="750" dirty="0"/>
          </a:p>
        </p:txBody>
      </p:sp>
      <p:sp>
        <p:nvSpPr>
          <p:cNvPr id="72" name="Text 70"/>
          <p:cNvSpPr txBox="1"/>
          <p:nvPr/>
        </p:nvSpPr>
        <p:spPr>
          <a:xfrm>
            <a:off x="4557674" y="53858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↗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5554370" y="3895344"/>
            <a:ext cx="3048914" cy="1737360"/>
          </a:xfrm>
          <a:prstGeom prst="roundRect">
            <a:avLst>
              <a:gd name="adj" fmla="val 2632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8000"/>
              </a:srgbClr>
            </a:outerShdw>
          </a:effectLst>
        </p:spPr>
      </p:sp>
      <p:sp>
        <p:nvSpPr>
          <p:cNvPr id="74" name="Text 72"/>
          <p:cNvSpPr txBox="1"/>
          <p:nvPr/>
        </p:nvSpPr>
        <p:spPr>
          <a:xfrm>
            <a:off x="5682386" y="3986784"/>
            <a:ext cx="16769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STD-105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7890053" y="3977640"/>
            <a:ext cx="621792" cy="173736"/>
          </a:xfrm>
          <a:prstGeom prst="roundRect">
            <a:avLst>
              <a:gd name="adj" fmla="val 15789"/>
            </a:avLst>
          </a:prstGeom>
          <a:solidFill>
            <a:srgbClr val="FBFCFC"/>
          </a:solidFill>
          <a:ln w="9525">
            <a:solidFill>
              <a:srgbClr val="B8842A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7890053" y="3977640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B884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UPDATED</a:t>
            </a:r>
            <a:endParaRPr lang="en-US" sz="650" dirty="0"/>
          </a:p>
        </p:txBody>
      </p:sp>
      <p:sp>
        <p:nvSpPr>
          <p:cNvPr id="77" name="Text 75"/>
          <p:cNvSpPr txBox="1"/>
          <p:nvPr/>
        </p:nvSpPr>
        <p:spPr>
          <a:xfrm>
            <a:off x="5682386" y="4187952"/>
            <a:ext cx="27928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Plotting &amp; Print Standards</a:t>
            </a:r>
            <a:endParaRPr lang="en-US" sz="1150" dirty="0"/>
          </a:p>
        </p:txBody>
      </p:sp>
      <p:sp>
        <p:nvSpPr>
          <p:cNvPr id="78" name="Text 76"/>
          <p:cNvSpPr txBox="1"/>
          <p:nvPr/>
        </p:nvSpPr>
        <p:spPr>
          <a:xfrm>
            <a:off x="5682386" y="4736592"/>
            <a:ext cx="27928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tables, plot styles, and PDF export settings.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5682386" y="5340096"/>
            <a:ext cx="2792882" cy="0"/>
          </a:xfrm>
          <a:prstGeom prst="line">
            <a:avLst/>
          </a:prstGeom>
          <a:noFill/>
          <a:ln w="6350">
            <a:solidFill>
              <a:srgbClr val="C9D1D6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5682386" y="5385816"/>
            <a:ext cx="18293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</a:t>
            </a:r>
            <a:endParaRPr lang="en-US" sz="750" dirty="0"/>
          </a:p>
        </p:txBody>
      </p:sp>
      <p:sp>
        <p:nvSpPr>
          <p:cNvPr id="81" name="Text 79"/>
          <p:cNvSpPr txBox="1"/>
          <p:nvPr/>
        </p:nvSpPr>
        <p:spPr>
          <a:xfrm>
            <a:off x="7826045" y="53858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↗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8822741" y="3895344"/>
            <a:ext cx="3048914" cy="1737360"/>
          </a:xfrm>
          <a:prstGeom prst="roundRect">
            <a:avLst>
              <a:gd name="adj" fmla="val 2632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8000"/>
              </a:srgbClr>
            </a:outerShdw>
          </a:effectLst>
        </p:spPr>
      </p:sp>
      <p:sp>
        <p:nvSpPr>
          <p:cNvPr id="83" name="Text 81"/>
          <p:cNvSpPr txBox="1"/>
          <p:nvPr/>
        </p:nvSpPr>
        <p:spPr>
          <a:xfrm>
            <a:off x="8950757" y="3986784"/>
            <a:ext cx="16769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STD-106</a:t>
            </a:r>
            <a:endParaRPr lang="en-US" sz="800" dirty="0"/>
          </a:p>
        </p:txBody>
      </p:sp>
      <p:sp>
        <p:nvSpPr>
          <p:cNvPr id="84" name="Text 82"/>
          <p:cNvSpPr txBox="1"/>
          <p:nvPr/>
        </p:nvSpPr>
        <p:spPr>
          <a:xfrm>
            <a:off x="8950757" y="4187952"/>
            <a:ext cx="27928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Format Guide</a:t>
            </a:r>
            <a:endParaRPr lang="en-US" sz="1150" dirty="0"/>
          </a:p>
        </p:txBody>
      </p:sp>
      <p:sp>
        <p:nvSpPr>
          <p:cNvPr id="85" name="Text 83"/>
          <p:cNvSpPr txBox="1"/>
          <p:nvPr/>
        </p:nvSpPr>
        <p:spPr>
          <a:xfrm>
            <a:off x="8950757" y="4736592"/>
            <a:ext cx="27928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MasterFormat divisions used in office specifications.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8950757" y="5340096"/>
            <a:ext cx="2792882" cy="0"/>
          </a:xfrm>
          <a:prstGeom prst="line">
            <a:avLst/>
          </a:prstGeom>
          <a:noFill/>
          <a:ln w="6350">
            <a:solidFill>
              <a:srgbClr val="C9D1D6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8950757" y="5385816"/>
            <a:ext cx="18293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DOCX</a:t>
            </a:r>
            <a:endParaRPr lang="en-US" sz="750" dirty="0"/>
          </a:p>
        </p:txBody>
      </p:sp>
      <p:sp>
        <p:nvSpPr>
          <p:cNvPr id="88" name="Text 86"/>
          <p:cNvSpPr txBox="1"/>
          <p:nvPr/>
        </p:nvSpPr>
        <p:spPr>
          <a:xfrm>
            <a:off x="11094415" y="53858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↗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BFCFC"/>
          </a:solidFill>
          <a:ln w="19050">
            <a:solidFill>
              <a:srgbClr val="1C25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46120" y="73152"/>
            <a:ext cx="0" cy="694944"/>
          </a:xfrm>
          <a:prstGeom prst="line">
            <a:avLst/>
          </a:prstGeom>
          <a:noFill/>
          <a:ln w="9525">
            <a:solidFill>
              <a:srgbClr val="C9D1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73152"/>
            <a:ext cx="0" cy="694944"/>
          </a:xfrm>
          <a:prstGeom prst="line">
            <a:avLst/>
          </a:prstGeom>
          <a:noFill/>
          <a:ln w="9525">
            <a:solidFill>
              <a:srgbClr val="C9D1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73152"/>
            <a:ext cx="0" cy="694944"/>
          </a:xfrm>
          <a:prstGeom prst="line">
            <a:avLst/>
          </a:prstGeom>
          <a:noFill/>
          <a:ln w="9525">
            <a:solidFill>
              <a:srgbClr val="C9D1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6032" y="1188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NAME ARCHITECTS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56032" y="4206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OFFICE HUB — WEBSITE CONCEPT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456432" y="246888"/>
            <a:ext cx="5394960" cy="347472"/>
          </a:xfrm>
          <a:prstGeom prst="roundRect">
            <a:avLst>
              <a:gd name="adj" fmla="val 15789"/>
            </a:avLst>
          </a:prstGeom>
          <a:solidFill>
            <a:srgbClr val="EEF1F3"/>
          </a:solidFill>
          <a:ln w="12700">
            <a:solidFill>
              <a:srgbClr val="C9D1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39312" y="24688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standards, templates, forms, SOPs, Revit standards…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17152" y="1280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9217152" y="3108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AUG 2026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118872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1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841248"/>
            <a:ext cx="1965960" cy="6016752"/>
          </a:xfrm>
          <a:prstGeom prst="rect">
            <a:avLst/>
          </a:prstGeom>
          <a:solidFill>
            <a:srgbClr val="FBFCFC"/>
          </a:solidFill>
          <a:ln w="9525">
            <a:solidFill>
              <a:srgbClr val="C9D1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2880" y="9692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SHEET INDEX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" y="12618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G-000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182880" y="14538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" y="181051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G-001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82880" y="200253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82880" y="23591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A-100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82880" y="255117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Standards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2889504"/>
            <a:ext cx="1965960" cy="512064"/>
          </a:xfrm>
          <a:prstGeom prst="rect">
            <a:avLst/>
          </a:prstGeom>
          <a:solidFill>
            <a:srgbClr val="E3E8EA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2889504"/>
            <a:ext cx="45720" cy="512064"/>
          </a:xfrm>
          <a:prstGeom prst="rect">
            <a:avLst/>
          </a:prstGeom>
          <a:solidFill>
            <a:srgbClr val="C1432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82880" y="2907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A-200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82880" y="30998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82880" y="345643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A-300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82880" y="36484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82880" y="40050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A-400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182880" y="41970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Policies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82880" y="455371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A-500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82880" y="474573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82880" y="51023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A-600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182880" y="529437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Revit Standards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82880" y="56509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A-700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182880" y="58430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Directory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2286000" y="98755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50" kern="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2286000" y="1408176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Ready-to-use templates for drawings, correspondence, and project documents.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10698480" y="102412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SHEET A-200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286000" y="1773936"/>
            <a:ext cx="9585655" cy="0"/>
          </a:xfrm>
          <a:prstGeom prst="line">
            <a:avLst/>
          </a:prstGeom>
          <a:noFill/>
          <a:ln w="15875">
            <a:solidFill>
              <a:srgbClr val="1C253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86000" y="1956816"/>
            <a:ext cx="3048914" cy="1737360"/>
          </a:xfrm>
          <a:prstGeom prst="roundRect">
            <a:avLst>
              <a:gd name="adj" fmla="val 2632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8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2414016" y="2048256"/>
            <a:ext cx="16769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TPL-201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621682" y="2039112"/>
            <a:ext cx="621792" cy="173736"/>
          </a:xfrm>
          <a:prstGeom prst="roundRect">
            <a:avLst>
              <a:gd name="adj" fmla="val 15789"/>
            </a:avLst>
          </a:prstGeom>
          <a:solidFill>
            <a:srgbClr val="FBFCFC"/>
          </a:solidFill>
          <a:ln w="9525">
            <a:solidFill>
              <a:srgbClr val="3E7D5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621682" y="2039112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3E7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endParaRPr lang="en-US" sz="650" dirty="0"/>
          </a:p>
        </p:txBody>
      </p:sp>
      <p:sp>
        <p:nvSpPr>
          <p:cNvPr id="43" name="Text 41"/>
          <p:cNvSpPr txBox="1"/>
          <p:nvPr/>
        </p:nvSpPr>
        <p:spPr>
          <a:xfrm>
            <a:off x="2414016" y="2249424"/>
            <a:ext cx="27928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Sheet Title Block Template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2414016" y="2798064"/>
            <a:ext cx="27928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block, north arrow, and scale bar for CAD sheets.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414016" y="3401568"/>
            <a:ext cx="2792882" cy="0"/>
          </a:xfrm>
          <a:prstGeom prst="line">
            <a:avLst/>
          </a:prstGeom>
          <a:noFill/>
          <a:ln w="6350">
            <a:solidFill>
              <a:srgbClr val="C9D1D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414016" y="3447288"/>
            <a:ext cx="18293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DWG</a:t>
            </a:r>
            <a:endParaRPr lang="en-US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4557674" y="34472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↗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554370" y="1956816"/>
            <a:ext cx="3048914" cy="1737360"/>
          </a:xfrm>
          <a:prstGeom prst="roundRect">
            <a:avLst>
              <a:gd name="adj" fmla="val 2632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8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5682386" y="2048256"/>
            <a:ext cx="16769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TPL-202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5682386" y="2249424"/>
            <a:ext cx="27928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Minutes Template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5682386" y="2798064"/>
            <a:ext cx="27928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format for OAC and design meeting minutes.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682386" y="3401568"/>
            <a:ext cx="2792882" cy="0"/>
          </a:xfrm>
          <a:prstGeom prst="line">
            <a:avLst/>
          </a:prstGeom>
          <a:noFill/>
          <a:ln w="6350">
            <a:solidFill>
              <a:srgbClr val="C9D1D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682386" y="3447288"/>
            <a:ext cx="18293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Doc</a:t>
            </a:r>
            <a:endParaRPr lang="en-US" sz="750" dirty="0"/>
          </a:p>
        </p:txBody>
      </p:sp>
      <p:sp>
        <p:nvSpPr>
          <p:cNvPr id="54" name="Text 52"/>
          <p:cNvSpPr txBox="1"/>
          <p:nvPr/>
        </p:nvSpPr>
        <p:spPr>
          <a:xfrm>
            <a:off x="7826045" y="34472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↗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8822741" y="1956816"/>
            <a:ext cx="3048914" cy="1737360"/>
          </a:xfrm>
          <a:prstGeom prst="roundRect">
            <a:avLst>
              <a:gd name="adj" fmla="val 2632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8000"/>
              </a:srgbClr>
            </a:outerShdw>
          </a:effectLst>
        </p:spPr>
      </p:sp>
      <p:sp>
        <p:nvSpPr>
          <p:cNvPr id="56" name="Text 54"/>
          <p:cNvSpPr txBox="1"/>
          <p:nvPr/>
        </p:nvSpPr>
        <p:spPr>
          <a:xfrm>
            <a:off x="8950757" y="2048256"/>
            <a:ext cx="16769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TPL-203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8950757" y="2249424"/>
            <a:ext cx="27928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Transmittal Template</a:t>
            </a:r>
            <a:endParaRPr lang="en-US" sz="1150" dirty="0"/>
          </a:p>
        </p:txBody>
      </p:sp>
      <p:sp>
        <p:nvSpPr>
          <p:cNvPr id="58" name="Text 56"/>
          <p:cNvSpPr txBox="1"/>
          <p:nvPr/>
        </p:nvSpPr>
        <p:spPr>
          <a:xfrm>
            <a:off x="8950757" y="2798064"/>
            <a:ext cx="27928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sheet for issuing drawings and documents.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8950757" y="3401568"/>
            <a:ext cx="2792882" cy="0"/>
          </a:xfrm>
          <a:prstGeom prst="line">
            <a:avLst/>
          </a:prstGeom>
          <a:noFill/>
          <a:ln w="6350">
            <a:solidFill>
              <a:srgbClr val="C9D1D6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950757" y="3447288"/>
            <a:ext cx="18293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DOCX</a:t>
            </a:r>
            <a:endParaRPr lang="en-US" sz="750" dirty="0"/>
          </a:p>
        </p:txBody>
      </p:sp>
      <p:sp>
        <p:nvSpPr>
          <p:cNvPr id="61" name="Text 59"/>
          <p:cNvSpPr txBox="1"/>
          <p:nvPr/>
        </p:nvSpPr>
        <p:spPr>
          <a:xfrm>
            <a:off x="11094415" y="34472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↗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2286000" y="3895344"/>
            <a:ext cx="3048914" cy="1737360"/>
          </a:xfrm>
          <a:prstGeom prst="roundRect">
            <a:avLst>
              <a:gd name="adj" fmla="val 2632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8000"/>
              </a:srgbClr>
            </a:outerShdw>
          </a:effectLst>
        </p:spPr>
      </p:sp>
      <p:sp>
        <p:nvSpPr>
          <p:cNvPr id="63" name="Text 61"/>
          <p:cNvSpPr txBox="1"/>
          <p:nvPr/>
        </p:nvSpPr>
        <p:spPr>
          <a:xfrm>
            <a:off x="2414016" y="3986784"/>
            <a:ext cx="16769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TPL-204</a:t>
            </a:r>
            <a:endParaRPr lang="en-US" sz="800" dirty="0"/>
          </a:p>
        </p:txBody>
      </p:sp>
      <p:sp>
        <p:nvSpPr>
          <p:cNvPr id="64" name="Text 62"/>
          <p:cNvSpPr txBox="1"/>
          <p:nvPr/>
        </p:nvSpPr>
        <p:spPr>
          <a:xfrm>
            <a:off x="2414016" y="4187952"/>
            <a:ext cx="27928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Template</a:t>
            </a:r>
            <a:endParaRPr lang="en-US" sz="1150" dirty="0"/>
          </a:p>
        </p:txBody>
      </p:sp>
      <p:sp>
        <p:nvSpPr>
          <p:cNvPr id="65" name="Text 63"/>
          <p:cNvSpPr txBox="1"/>
          <p:nvPr/>
        </p:nvSpPr>
        <p:spPr>
          <a:xfrm>
            <a:off x="2414016" y="4736592"/>
            <a:ext cx="27928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for Information format with numbering convention.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414016" y="5340096"/>
            <a:ext cx="2792882" cy="0"/>
          </a:xfrm>
          <a:prstGeom prst="line">
            <a:avLst/>
          </a:prstGeom>
          <a:noFill/>
          <a:ln w="6350">
            <a:solidFill>
              <a:srgbClr val="C9D1D6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2414016" y="5385816"/>
            <a:ext cx="18293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Sheet</a:t>
            </a:r>
            <a:endParaRPr lang="en-US" sz="750" dirty="0"/>
          </a:p>
        </p:txBody>
      </p:sp>
      <p:sp>
        <p:nvSpPr>
          <p:cNvPr id="68" name="Text 66"/>
          <p:cNvSpPr txBox="1"/>
          <p:nvPr/>
        </p:nvSpPr>
        <p:spPr>
          <a:xfrm>
            <a:off x="4557674" y="53858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↗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5554370" y="3895344"/>
            <a:ext cx="3048914" cy="1737360"/>
          </a:xfrm>
          <a:prstGeom prst="roundRect">
            <a:avLst>
              <a:gd name="adj" fmla="val 2632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8000"/>
              </a:srgbClr>
            </a:outerShdw>
          </a:effectLst>
        </p:spPr>
      </p:sp>
      <p:sp>
        <p:nvSpPr>
          <p:cNvPr id="70" name="Text 68"/>
          <p:cNvSpPr txBox="1"/>
          <p:nvPr/>
        </p:nvSpPr>
        <p:spPr>
          <a:xfrm>
            <a:off x="5682386" y="3986784"/>
            <a:ext cx="16769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TPL-205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7890053" y="3977640"/>
            <a:ext cx="621792" cy="173736"/>
          </a:xfrm>
          <a:prstGeom prst="roundRect">
            <a:avLst>
              <a:gd name="adj" fmla="val 15789"/>
            </a:avLst>
          </a:prstGeom>
          <a:solidFill>
            <a:srgbClr val="FBFCFC"/>
          </a:solidFill>
          <a:ln w="9525">
            <a:solidFill>
              <a:srgbClr val="C1432A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7890053" y="3977640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endParaRPr lang="en-US" sz="650" dirty="0"/>
          </a:p>
        </p:txBody>
      </p:sp>
      <p:sp>
        <p:nvSpPr>
          <p:cNvPr id="73" name="Text 71"/>
          <p:cNvSpPr txBox="1"/>
          <p:nvPr/>
        </p:nvSpPr>
        <p:spPr>
          <a:xfrm>
            <a:off x="5682386" y="4187952"/>
            <a:ext cx="27928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Punch List Template</a:t>
            </a:r>
            <a:endParaRPr lang="en-US" sz="1150" dirty="0"/>
          </a:p>
        </p:txBody>
      </p:sp>
      <p:sp>
        <p:nvSpPr>
          <p:cNvPr id="74" name="Text 72"/>
          <p:cNvSpPr txBox="1"/>
          <p:nvPr/>
        </p:nvSpPr>
        <p:spPr>
          <a:xfrm>
            <a:off x="5682386" y="4736592"/>
            <a:ext cx="27928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punch list with location, trade, and status columns.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5682386" y="5340096"/>
            <a:ext cx="2792882" cy="0"/>
          </a:xfrm>
          <a:prstGeom prst="line">
            <a:avLst/>
          </a:prstGeom>
          <a:noFill/>
          <a:ln w="6350">
            <a:solidFill>
              <a:srgbClr val="C9D1D6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5682386" y="5385816"/>
            <a:ext cx="18293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Sheet</a:t>
            </a:r>
            <a:endParaRPr lang="en-US" sz="750" dirty="0"/>
          </a:p>
        </p:txBody>
      </p:sp>
      <p:sp>
        <p:nvSpPr>
          <p:cNvPr id="77" name="Text 75"/>
          <p:cNvSpPr txBox="1"/>
          <p:nvPr/>
        </p:nvSpPr>
        <p:spPr>
          <a:xfrm>
            <a:off x="7826045" y="53858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↗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8822741" y="3895344"/>
            <a:ext cx="3048914" cy="1737360"/>
          </a:xfrm>
          <a:prstGeom prst="roundRect">
            <a:avLst>
              <a:gd name="adj" fmla="val 2632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8000"/>
              </a:srgbClr>
            </a:outerShdw>
          </a:effectLst>
        </p:spPr>
      </p:sp>
      <p:sp>
        <p:nvSpPr>
          <p:cNvPr id="79" name="Text 77"/>
          <p:cNvSpPr txBox="1"/>
          <p:nvPr/>
        </p:nvSpPr>
        <p:spPr>
          <a:xfrm>
            <a:off x="8950757" y="3986784"/>
            <a:ext cx="16769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TPL-206</a:t>
            </a:r>
            <a:endParaRPr lang="en-US" sz="800" dirty="0"/>
          </a:p>
        </p:txBody>
      </p:sp>
      <p:sp>
        <p:nvSpPr>
          <p:cNvPr id="80" name="Text 78"/>
          <p:cNvSpPr txBox="1"/>
          <p:nvPr/>
        </p:nvSpPr>
        <p:spPr>
          <a:xfrm>
            <a:off x="8950757" y="4187952"/>
            <a:ext cx="27928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&amp; Fee Template</a:t>
            </a:r>
            <a:endParaRPr lang="en-US" sz="1150" dirty="0"/>
          </a:p>
        </p:txBody>
      </p:sp>
      <p:sp>
        <p:nvSpPr>
          <p:cNvPr id="81" name="Text 79"/>
          <p:cNvSpPr txBox="1"/>
          <p:nvPr/>
        </p:nvSpPr>
        <p:spPr>
          <a:xfrm>
            <a:off x="8950757" y="4736592"/>
            <a:ext cx="27928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proposal layout with scope and fee table.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8950757" y="5340096"/>
            <a:ext cx="2792882" cy="0"/>
          </a:xfrm>
          <a:prstGeom prst="line">
            <a:avLst/>
          </a:prstGeom>
          <a:noFill/>
          <a:ln w="6350">
            <a:solidFill>
              <a:srgbClr val="C9D1D6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8950757" y="5385816"/>
            <a:ext cx="18293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DOCX</a:t>
            </a:r>
            <a:endParaRPr lang="en-US" sz="750" dirty="0"/>
          </a:p>
        </p:txBody>
      </p:sp>
      <p:sp>
        <p:nvSpPr>
          <p:cNvPr id="84" name="Text 82"/>
          <p:cNvSpPr txBox="1"/>
          <p:nvPr/>
        </p:nvSpPr>
        <p:spPr>
          <a:xfrm>
            <a:off x="11094415" y="53858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↗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BFCFC"/>
          </a:solidFill>
          <a:ln w="19050">
            <a:solidFill>
              <a:srgbClr val="1C25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46120" y="73152"/>
            <a:ext cx="0" cy="694944"/>
          </a:xfrm>
          <a:prstGeom prst="line">
            <a:avLst/>
          </a:prstGeom>
          <a:noFill/>
          <a:ln w="9525">
            <a:solidFill>
              <a:srgbClr val="C9D1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73152"/>
            <a:ext cx="0" cy="694944"/>
          </a:xfrm>
          <a:prstGeom prst="line">
            <a:avLst/>
          </a:prstGeom>
          <a:noFill/>
          <a:ln w="9525">
            <a:solidFill>
              <a:srgbClr val="C9D1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73152"/>
            <a:ext cx="0" cy="694944"/>
          </a:xfrm>
          <a:prstGeom prst="line">
            <a:avLst/>
          </a:prstGeom>
          <a:noFill/>
          <a:ln w="9525">
            <a:solidFill>
              <a:srgbClr val="C9D1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6032" y="1188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NAME ARCHITECTS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56032" y="4206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OFFICE HUB — WEBSITE CONCEPT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456432" y="246888"/>
            <a:ext cx="5394960" cy="347472"/>
          </a:xfrm>
          <a:prstGeom prst="roundRect">
            <a:avLst>
              <a:gd name="adj" fmla="val 15789"/>
            </a:avLst>
          </a:prstGeom>
          <a:solidFill>
            <a:srgbClr val="EEF1F3"/>
          </a:solidFill>
          <a:ln w="12700">
            <a:solidFill>
              <a:srgbClr val="C9D1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39312" y="24688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standards, templates, forms, SOPs, Revit standards…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17152" y="1280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9217152" y="3108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AUG 2026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118872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1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841248"/>
            <a:ext cx="1965960" cy="6016752"/>
          </a:xfrm>
          <a:prstGeom prst="rect">
            <a:avLst/>
          </a:prstGeom>
          <a:solidFill>
            <a:srgbClr val="FBFCFC"/>
          </a:solidFill>
          <a:ln w="9525">
            <a:solidFill>
              <a:srgbClr val="C9D1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2880" y="9692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SHEET INDEX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" y="12618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G-000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182880" y="14538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" y="181051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G-001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82880" y="200253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82880" y="23591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A-100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82880" y="255117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Standards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82880" y="2907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A-200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82880" y="30998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3438144"/>
            <a:ext cx="1965960" cy="512064"/>
          </a:xfrm>
          <a:prstGeom prst="rect">
            <a:avLst/>
          </a:prstGeom>
          <a:solidFill>
            <a:srgbClr val="E3E8EA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3438144"/>
            <a:ext cx="45720" cy="512064"/>
          </a:xfrm>
          <a:prstGeom prst="rect">
            <a:avLst/>
          </a:prstGeom>
          <a:solidFill>
            <a:srgbClr val="C1432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82880" y="345643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A-300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82880" y="36484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82880" y="40050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A-400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182880" y="41970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Policies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82880" y="455371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A-500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82880" y="474573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82880" y="51023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A-600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182880" y="529437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Revit Standards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82880" y="56509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A-700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182880" y="58430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Directory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2286000" y="98755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50" kern="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Forms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2286000" y="1408176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Fillable forms for HR, IT, expenses, and project administration.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10698480" y="102412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SHEET A-300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286000" y="1773936"/>
            <a:ext cx="9585655" cy="0"/>
          </a:xfrm>
          <a:prstGeom prst="line">
            <a:avLst/>
          </a:prstGeom>
          <a:noFill/>
          <a:ln w="15875">
            <a:solidFill>
              <a:srgbClr val="1C253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86000" y="1956816"/>
            <a:ext cx="3048914" cy="1737360"/>
          </a:xfrm>
          <a:prstGeom prst="roundRect">
            <a:avLst>
              <a:gd name="adj" fmla="val 2632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8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2414016" y="2048256"/>
            <a:ext cx="16769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FRM-301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621682" y="2039112"/>
            <a:ext cx="621792" cy="173736"/>
          </a:xfrm>
          <a:prstGeom prst="roundRect">
            <a:avLst>
              <a:gd name="adj" fmla="val 15789"/>
            </a:avLst>
          </a:prstGeom>
          <a:solidFill>
            <a:srgbClr val="FBFCFC"/>
          </a:solidFill>
          <a:ln w="9525">
            <a:solidFill>
              <a:srgbClr val="3E7D5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621682" y="2039112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3E7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endParaRPr lang="en-US" sz="650" dirty="0"/>
          </a:p>
        </p:txBody>
      </p:sp>
      <p:sp>
        <p:nvSpPr>
          <p:cNvPr id="43" name="Text 41"/>
          <p:cNvSpPr txBox="1"/>
          <p:nvPr/>
        </p:nvSpPr>
        <p:spPr>
          <a:xfrm>
            <a:off x="2414016" y="2249424"/>
            <a:ext cx="27928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PTO / Time-Off Request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2414016" y="2798064"/>
            <a:ext cx="27928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vacation, sick, or personal time for approval.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414016" y="3401568"/>
            <a:ext cx="2792882" cy="0"/>
          </a:xfrm>
          <a:prstGeom prst="line">
            <a:avLst/>
          </a:prstGeom>
          <a:noFill/>
          <a:ln w="6350">
            <a:solidFill>
              <a:srgbClr val="C9D1D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414016" y="3447288"/>
            <a:ext cx="18293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</a:t>
            </a:r>
            <a:endParaRPr lang="en-US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4557674" y="34472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↗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554370" y="1956816"/>
            <a:ext cx="3048914" cy="1737360"/>
          </a:xfrm>
          <a:prstGeom prst="roundRect">
            <a:avLst>
              <a:gd name="adj" fmla="val 2632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8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5682386" y="2048256"/>
            <a:ext cx="16769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FRM-302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5682386" y="2249424"/>
            <a:ext cx="27928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Expense Reimbursement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5682386" y="2798064"/>
            <a:ext cx="27928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receipts and mileage — reviewed biweekly.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682386" y="3401568"/>
            <a:ext cx="2792882" cy="0"/>
          </a:xfrm>
          <a:prstGeom prst="line">
            <a:avLst/>
          </a:prstGeom>
          <a:noFill/>
          <a:ln w="6350">
            <a:solidFill>
              <a:srgbClr val="C9D1D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682386" y="3447288"/>
            <a:ext cx="18293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</a:t>
            </a:r>
            <a:endParaRPr lang="en-US" sz="750" dirty="0"/>
          </a:p>
        </p:txBody>
      </p:sp>
      <p:sp>
        <p:nvSpPr>
          <p:cNvPr id="54" name="Text 52"/>
          <p:cNvSpPr txBox="1"/>
          <p:nvPr/>
        </p:nvSpPr>
        <p:spPr>
          <a:xfrm>
            <a:off x="7826045" y="34472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↗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8822741" y="1956816"/>
            <a:ext cx="3048914" cy="1737360"/>
          </a:xfrm>
          <a:prstGeom prst="roundRect">
            <a:avLst>
              <a:gd name="adj" fmla="val 2632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8000"/>
              </a:srgbClr>
            </a:outerShdw>
          </a:effectLst>
        </p:spPr>
      </p:sp>
      <p:sp>
        <p:nvSpPr>
          <p:cNvPr id="56" name="Text 54"/>
          <p:cNvSpPr txBox="1"/>
          <p:nvPr/>
        </p:nvSpPr>
        <p:spPr>
          <a:xfrm>
            <a:off x="8950757" y="2048256"/>
            <a:ext cx="16769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FRM-303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8950757" y="2249424"/>
            <a:ext cx="27928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Support Request</a:t>
            </a:r>
            <a:endParaRPr lang="en-US" sz="1150" dirty="0"/>
          </a:p>
        </p:txBody>
      </p:sp>
      <p:sp>
        <p:nvSpPr>
          <p:cNvPr id="58" name="Text 56"/>
          <p:cNvSpPr txBox="1"/>
          <p:nvPr/>
        </p:nvSpPr>
        <p:spPr>
          <a:xfrm>
            <a:off x="8950757" y="2798064"/>
            <a:ext cx="27928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hardware, software, or network issues to IT.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8950757" y="3401568"/>
            <a:ext cx="2792882" cy="0"/>
          </a:xfrm>
          <a:prstGeom prst="line">
            <a:avLst/>
          </a:prstGeom>
          <a:noFill/>
          <a:ln w="6350">
            <a:solidFill>
              <a:srgbClr val="C9D1D6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950757" y="3447288"/>
            <a:ext cx="18293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</a:t>
            </a:r>
            <a:endParaRPr lang="en-US" sz="750" dirty="0"/>
          </a:p>
        </p:txBody>
      </p:sp>
      <p:sp>
        <p:nvSpPr>
          <p:cNvPr id="61" name="Text 59"/>
          <p:cNvSpPr txBox="1"/>
          <p:nvPr/>
        </p:nvSpPr>
        <p:spPr>
          <a:xfrm>
            <a:off x="11094415" y="34472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↗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2286000" y="3895344"/>
            <a:ext cx="3048914" cy="1737360"/>
          </a:xfrm>
          <a:prstGeom prst="roundRect">
            <a:avLst>
              <a:gd name="adj" fmla="val 2632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8000"/>
              </a:srgbClr>
            </a:outerShdw>
          </a:effectLst>
        </p:spPr>
      </p:sp>
      <p:sp>
        <p:nvSpPr>
          <p:cNvPr id="63" name="Text 61"/>
          <p:cNvSpPr txBox="1"/>
          <p:nvPr/>
        </p:nvSpPr>
        <p:spPr>
          <a:xfrm>
            <a:off x="2414016" y="3986784"/>
            <a:ext cx="16769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FRM-304</a:t>
            </a:r>
            <a:endParaRPr lang="en-US" sz="800" dirty="0"/>
          </a:p>
        </p:txBody>
      </p:sp>
      <p:sp>
        <p:nvSpPr>
          <p:cNvPr id="64" name="Text 62"/>
          <p:cNvSpPr txBox="1"/>
          <p:nvPr/>
        </p:nvSpPr>
        <p:spPr>
          <a:xfrm>
            <a:off x="2414016" y="4187952"/>
            <a:ext cx="27928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New-Hire Onboarding Checklist</a:t>
            </a:r>
            <a:endParaRPr lang="en-US" sz="1150" dirty="0"/>
          </a:p>
        </p:txBody>
      </p:sp>
      <p:sp>
        <p:nvSpPr>
          <p:cNvPr id="65" name="Text 63"/>
          <p:cNvSpPr txBox="1"/>
          <p:nvPr/>
        </p:nvSpPr>
        <p:spPr>
          <a:xfrm>
            <a:off x="2414016" y="4736592"/>
            <a:ext cx="27928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checklist for accounts, licenses, and workstation.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414016" y="5340096"/>
            <a:ext cx="2792882" cy="0"/>
          </a:xfrm>
          <a:prstGeom prst="line">
            <a:avLst/>
          </a:prstGeom>
          <a:noFill/>
          <a:ln w="6350">
            <a:solidFill>
              <a:srgbClr val="C9D1D6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2414016" y="5385816"/>
            <a:ext cx="18293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Doc</a:t>
            </a:r>
            <a:endParaRPr lang="en-US" sz="750" dirty="0"/>
          </a:p>
        </p:txBody>
      </p:sp>
      <p:sp>
        <p:nvSpPr>
          <p:cNvPr id="68" name="Text 66"/>
          <p:cNvSpPr txBox="1"/>
          <p:nvPr/>
        </p:nvSpPr>
        <p:spPr>
          <a:xfrm>
            <a:off x="4557674" y="53858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↗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5554370" y="3895344"/>
            <a:ext cx="3048914" cy="1737360"/>
          </a:xfrm>
          <a:prstGeom prst="roundRect">
            <a:avLst>
              <a:gd name="adj" fmla="val 2632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8000"/>
              </a:srgbClr>
            </a:outerShdw>
          </a:effectLst>
        </p:spPr>
      </p:sp>
      <p:sp>
        <p:nvSpPr>
          <p:cNvPr id="70" name="Text 68"/>
          <p:cNvSpPr txBox="1"/>
          <p:nvPr/>
        </p:nvSpPr>
        <p:spPr>
          <a:xfrm>
            <a:off x="5682386" y="3986784"/>
            <a:ext cx="16769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FRM-305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7890053" y="3977640"/>
            <a:ext cx="621792" cy="173736"/>
          </a:xfrm>
          <a:prstGeom prst="roundRect">
            <a:avLst>
              <a:gd name="adj" fmla="val 15789"/>
            </a:avLst>
          </a:prstGeom>
          <a:solidFill>
            <a:srgbClr val="FBFCFC"/>
          </a:solidFill>
          <a:ln w="9525">
            <a:solidFill>
              <a:srgbClr val="3E7D5C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7890053" y="3977640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3E7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endParaRPr lang="en-US" sz="650" dirty="0"/>
          </a:p>
        </p:txBody>
      </p:sp>
      <p:sp>
        <p:nvSpPr>
          <p:cNvPr id="73" name="Text 71"/>
          <p:cNvSpPr txBox="1"/>
          <p:nvPr/>
        </p:nvSpPr>
        <p:spPr>
          <a:xfrm>
            <a:off x="5682386" y="4187952"/>
            <a:ext cx="27928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Closeout Checklist</a:t>
            </a:r>
            <a:endParaRPr lang="en-US" sz="1150" dirty="0"/>
          </a:p>
        </p:txBody>
      </p:sp>
      <p:sp>
        <p:nvSpPr>
          <p:cNvPr id="74" name="Text 72"/>
          <p:cNvSpPr txBox="1"/>
          <p:nvPr/>
        </p:nvSpPr>
        <p:spPr>
          <a:xfrm>
            <a:off x="5682386" y="4736592"/>
            <a:ext cx="27928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drawings and file record documents.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5682386" y="5340096"/>
            <a:ext cx="2792882" cy="0"/>
          </a:xfrm>
          <a:prstGeom prst="line">
            <a:avLst/>
          </a:prstGeom>
          <a:noFill/>
          <a:ln w="6350">
            <a:solidFill>
              <a:srgbClr val="C9D1D6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5682386" y="5385816"/>
            <a:ext cx="18293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Sheet</a:t>
            </a:r>
            <a:endParaRPr lang="en-US" sz="750" dirty="0"/>
          </a:p>
        </p:txBody>
      </p:sp>
      <p:sp>
        <p:nvSpPr>
          <p:cNvPr id="77" name="Text 75"/>
          <p:cNvSpPr txBox="1"/>
          <p:nvPr/>
        </p:nvSpPr>
        <p:spPr>
          <a:xfrm>
            <a:off x="7826045" y="53858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↗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8822741" y="3895344"/>
            <a:ext cx="3048914" cy="1737360"/>
          </a:xfrm>
          <a:prstGeom prst="roundRect">
            <a:avLst>
              <a:gd name="adj" fmla="val 2632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8000"/>
              </a:srgbClr>
            </a:outerShdw>
          </a:effectLst>
        </p:spPr>
      </p:sp>
      <p:sp>
        <p:nvSpPr>
          <p:cNvPr id="79" name="Text 77"/>
          <p:cNvSpPr txBox="1"/>
          <p:nvPr/>
        </p:nvSpPr>
        <p:spPr>
          <a:xfrm>
            <a:off x="8950757" y="3986784"/>
            <a:ext cx="16769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FRM-306</a:t>
            </a:r>
            <a:endParaRPr lang="en-US" sz="800" dirty="0"/>
          </a:p>
        </p:txBody>
      </p:sp>
      <p:sp>
        <p:nvSpPr>
          <p:cNvPr id="80" name="Text 78"/>
          <p:cNvSpPr txBox="1"/>
          <p:nvPr/>
        </p:nvSpPr>
        <p:spPr>
          <a:xfrm>
            <a:off x="8950757" y="4187952"/>
            <a:ext cx="27928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Timesheet Correction</a:t>
            </a:r>
            <a:endParaRPr lang="en-US" sz="1150" dirty="0"/>
          </a:p>
        </p:txBody>
      </p:sp>
      <p:sp>
        <p:nvSpPr>
          <p:cNvPr id="81" name="Text 79"/>
          <p:cNvSpPr txBox="1"/>
          <p:nvPr/>
        </p:nvSpPr>
        <p:spPr>
          <a:xfrm>
            <a:off x="8950757" y="4736592"/>
            <a:ext cx="27928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correction to a submitted weekly timesheet.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8950757" y="5340096"/>
            <a:ext cx="2792882" cy="0"/>
          </a:xfrm>
          <a:prstGeom prst="line">
            <a:avLst/>
          </a:prstGeom>
          <a:noFill/>
          <a:ln w="6350">
            <a:solidFill>
              <a:srgbClr val="C9D1D6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8950757" y="5385816"/>
            <a:ext cx="18293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</a:t>
            </a:r>
            <a:endParaRPr lang="en-US" sz="750" dirty="0"/>
          </a:p>
        </p:txBody>
      </p:sp>
      <p:sp>
        <p:nvSpPr>
          <p:cNvPr id="84" name="Text 82"/>
          <p:cNvSpPr txBox="1"/>
          <p:nvPr/>
        </p:nvSpPr>
        <p:spPr>
          <a:xfrm>
            <a:off x="11094415" y="53858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↗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BFCFC"/>
          </a:solidFill>
          <a:ln w="19050">
            <a:solidFill>
              <a:srgbClr val="1C25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46120" y="73152"/>
            <a:ext cx="0" cy="694944"/>
          </a:xfrm>
          <a:prstGeom prst="line">
            <a:avLst/>
          </a:prstGeom>
          <a:noFill/>
          <a:ln w="9525">
            <a:solidFill>
              <a:srgbClr val="C9D1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73152"/>
            <a:ext cx="0" cy="694944"/>
          </a:xfrm>
          <a:prstGeom prst="line">
            <a:avLst/>
          </a:prstGeom>
          <a:noFill/>
          <a:ln w="9525">
            <a:solidFill>
              <a:srgbClr val="C9D1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73152"/>
            <a:ext cx="0" cy="694944"/>
          </a:xfrm>
          <a:prstGeom prst="line">
            <a:avLst/>
          </a:prstGeom>
          <a:noFill/>
          <a:ln w="9525">
            <a:solidFill>
              <a:srgbClr val="C9D1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6032" y="1188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NAME ARCHITECTS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56032" y="4206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OFFICE HUB — WEBSITE CONCEPT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456432" y="246888"/>
            <a:ext cx="5394960" cy="347472"/>
          </a:xfrm>
          <a:prstGeom prst="roundRect">
            <a:avLst>
              <a:gd name="adj" fmla="val 15789"/>
            </a:avLst>
          </a:prstGeom>
          <a:solidFill>
            <a:srgbClr val="EEF1F3"/>
          </a:solidFill>
          <a:ln w="12700">
            <a:solidFill>
              <a:srgbClr val="C9D1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39312" y="24688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standards, templates, forms, SOPs, Revit standards…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17152" y="1280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9217152" y="3108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AUG 2026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118872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1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841248"/>
            <a:ext cx="1965960" cy="6016752"/>
          </a:xfrm>
          <a:prstGeom prst="rect">
            <a:avLst/>
          </a:prstGeom>
          <a:solidFill>
            <a:srgbClr val="FBFCFC"/>
          </a:solidFill>
          <a:ln w="9525">
            <a:solidFill>
              <a:srgbClr val="C9D1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2880" y="9692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SHEET INDEX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" y="12618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G-000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182880" y="14538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" y="181051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G-001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82880" y="200253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82880" y="23591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A-100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82880" y="255117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Standards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82880" y="2907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A-200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82880" y="30998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82880" y="345643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A-300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82880" y="36484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3986784"/>
            <a:ext cx="1965960" cy="512064"/>
          </a:xfrm>
          <a:prstGeom prst="rect">
            <a:avLst/>
          </a:prstGeom>
          <a:solidFill>
            <a:srgbClr val="E3E8EA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3986784"/>
            <a:ext cx="45720" cy="512064"/>
          </a:xfrm>
          <a:prstGeom prst="rect">
            <a:avLst/>
          </a:prstGeom>
          <a:solidFill>
            <a:srgbClr val="C1432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82880" y="40050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A-400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182880" y="41970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Policies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82880" y="455371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A-500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82880" y="474573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82880" y="51023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A-600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182880" y="529437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Revit Standards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82880" y="56509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A-700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182880" y="58430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Directory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2286000" y="98755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50" kern="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Policies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2286000" y="1408176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handbook and firm-wide policies.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10698480" y="102412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SHEET A-400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286000" y="1773936"/>
            <a:ext cx="9585655" cy="0"/>
          </a:xfrm>
          <a:prstGeom prst="line">
            <a:avLst/>
          </a:prstGeom>
          <a:noFill/>
          <a:ln w="15875">
            <a:solidFill>
              <a:srgbClr val="1C253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86000" y="1956816"/>
            <a:ext cx="3048914" cy="1737360"/>
          </a:xfrm>
          <a:prstGeom prst="roundRect">
            <a:avLst>
              <a:gd name="adj" fmla="val 2632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8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2414016" y="2048256"/>
            <a:ext cx="16769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POL-401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621682" y="2039112"/>
            <a:ext cx="621792" cy="173736"/>
          </a:xfrm>
          <a:prstGeom prst="roundRect">
            <a:avLst>
              <a:gd name="adj" fmla="val 15789"/>
            </a:avLst>
          </a:prstGeom>
          <a:solidFill>
            <a:srgbClr val="FBFCFC"/>
          </a:solidFill>
          <a:ln w="9525">
            <a:solidFill>
              <a:srgbClr val="3E7D5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621682" y="2039112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3E7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endParaRPr lang="en-US" sz="650" dirty="0"/>
          </a:p>
        </p:txBody>
      </p:sp>
      <p:sp>
        <p:nvSpPr>
          <p:cNvPr id="43" name="Text 41"/>
          <p:cNvSpPr txBox="1"/>
          <p:nvPr/>
        </p:nvSpPr>
        <p:spPr>
          <a:xfrm>
            <a:off x="2414016" y="2249424"/>
            <a:ext cx="27928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Handbook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2414016" y="2798064"/>
            <a:ext cx="27928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Firm-wide policies covering conduct, benefits, and workplace expectations.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414016" y="3401568"/>
            <a:ext cx="2792882" cy="0"/>
          </a:xfrm>
          <a:prstGeom prst="line">
            <a:avLst/>
          </a:prstGeom>
          <a:noFill/>
          <a:ln w="6350">
            <a:solidFill>
              <a:srgbClr val="C9D1D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414016" y="3447288"/>
            <a:ext cx="18293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</a:t>
            </a:r>
            <a:endParaRPr lang="en-US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4557674" y="34472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↗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554370" y="1956816"/>
            <a:ext cx="3048914" cy="1737360"/>
          </a:xfrm>
          <a:prstGeom prst="roundRect">
            <a:avLst>
              <a:gd name="adj" fmla="val 2632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8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5682386" y="2048256"/>
            <a:ext cx="16769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POL-402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890053" y="2039112"/>
            <a:ext cx="621792" cy="173736"/>
          </a:xfrm>
          <a:prstGeom prst="roundRect">
            <a:avLst>
              <a:gd name="adj" fmla="val 15789"/>
            </a:avLst>
          </a:prstGeom>
          <a:solidFill>
            <a:srgbClr val="FBFCFC"/>
          </a:solidFill>
          <a:ln w="9525">
            <a:solidFill>
              <a:srgbClr val="3E7D5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890053" y="2039112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3E7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endParaRPr lang="en-US" sz="650" dirty="0"/>
          </a:p>
        </p:txBody>
      </p:sp>
      <p:sp>
        <p:nvSpPr>
          <p:cNvPr id="52" name="Text 50"/>
          <p:cNvSpPr txBox="1"/>
          <p:nvPr/>
        </p:nvSpPr>
        <p:spPr>
          <a:xfrm>
            <a:off x="5682386" y="2249424"/>
            <a:ext cx="27928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Jobsite Health &amp; Safety Policy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5682386" y="2798064"/>
            <a:ext cx="27928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requirements and safety protocol for site visits.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682386" y="3401568"/>
            <a:ext cx="2792882" cy="0"/>
          </a:xfrm>
          <a:prstGeom prst="line">
            <a:avLst/>
          </a:prstGeom>
          <a:noFill/>
          <a:ln w="6350">
            <a:solidFill>
              <a:srgbClr val="C9D1D6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682386" y="3447288"/>
            <a:ext cx="18293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</a:t>
            </a:r>
            <a:endParaRPr lang="en-US" sz="750" dirty="0"/>
          </a:p>
        </p:txBody>
      </p:sp>
      <p:sp>
        <p:nvSpPr>
          <p:cNvPr id="56" name="Text 54"/>
          <p:cNvSpPr txBox="1"/>
          <p:nvPr/>
        </p:nvSpPr>
        <p:spPr>
          <a:xfrm>
            <a:off x="7826045" y="34472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↗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8822741" y="1956816"/>
            <a:ext cx="3048914" cy="1737360"/>
          </a:xfrm>
          <a:prstGeom prst="roundRect">
            <a:avLst>
              <a:gd name="adj" fmla="val 2632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8000"/>
              </a:srgbClr>
            </a:outerShdw>
          </a:effectLst>
        </p:spPr>
      </p:sp>
      <p:sp>
        <p:nvSpPr>
          <p:cNvPr id="58" name="Text 56"/>
          <p:cNvSpPr txBox="1"/>
          <p:nvPr/>
        </p:nvSpPr>
        <p:spPr>
          <a:xfrm>
            <a:off x="8950757" y="2048256"/>
            <a:ext cx="16769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POL-403</a:t>
            </a:r>
            <a:endParaRPr lang="en-US" sz="800" dirty="0"/>
          </a:p>
        </p:txBody>
      </p:sp>
      <p:sp>
        <p:nvSpPr>
          <p:cNvPr id="59" name="Text 57"/>
          <p:cNvSpPr txBox="1"/>
          <p:nvPr/>
        </p:nvSpPr>
        <p:spPr>
          <a:xfrm>
            <a:off x="8950757" y="2249424"/>
            <a:ext cx="27928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Work Policy</a:t>
            </a:r>
            <a:endParaRPr lang="en-US" sz="1150" dirty="0"/>
          </a:p>
        </p:txBody>
      </p:sp>
      <p:sp>
        <p:nvSpPr>
          <p:cNvPr id="60" name="Text 58"/>
          <p:cNvSpPr txBox="1"/>
          <p:nvPr/>
        </p:nvSpPr>
        <p:spPr>
          <a:xfrm>
            <a:off x="8950757" y="2798064"/>
            <a:ext cx="27928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Eligibility, core hours, and equipment guidelines.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8950757" y="3401568"/>
            <a:ext cx="2792882" cy="0"/>
          </a:xfrm>
          <a:prstGeom prst="line">
            <a:avLst/>
          </a:prstGeom>
          <a:noFill/>
          <a:ln w="6350">
            <a:solidFill>
              <a:srgbClr val="C9D1D6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950757" y="3447288"/>
            <a:ext cx="18293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</a:t>
            </a:r>
            <a:endParaRPr lang="en-US" sz="750" dirty="0"/>
          </a:p>
        </p:txBody>
      </p:sp>
      <p:sp>
        <p:nvSpPr>
          <p:cNvPr id="63" name="Text 61"/>
          <p:cNvSpPr txBox="1"/>
          <p:nvPr/>
        </p:nvSpPr>
        <p:spPr>
          <a:xfrm>
            <a:off x="11094415" y="34472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↗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286000" y="3895344"/>
            <a:ext cx="3048914" cy="1737360"/>
          </a:xfrm>
          <a:prstGeom prst="roundRect">
            <a:avLst>
              <a:gd name="adj" fmla="val 2632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8000"/>
              </a:srgbClr>
            </a:outerShdw>
          </a:effectLst>
        </p:spPr>
      </p:sp>
      <p:sp>
        <p:nvSpPr>
          <p:cNvPr id="65" name="Text 63"/>
          <p:cNvSpPr txBox="1"/>
          <p:nvPr/>
        </p:nvSpPr>
        <p:spPr>
          <a:xfrm>
            <a:off x="2414016" y="3986784"/>
            <a:ext cx="16769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POL-404</a:t>
            </a:r>
            <a:endParaRPr lang="en-US" sz="800" dirty="0"/>
          </a:p>
        </p:txBody>
      </p:sp>
      <p:sp>
        <p:nvSpPr>
          <p:cNvPr id="66" name="Text 64"/>
          <p:cNvSpPr txBox="1"/>
          <p:nvPr/>
        </p:nvSpPr>
        <p:spPr>
          <a:xfrm>
            <a:off x="2414016" y="4187952"/>
            <a:ext cx="27928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&amp; Mileage Policy</a:t>
            </a:r>
            <a:endParaRPr lang="en-US" sz="1150" dirty="0"/>
          </a:p>
        </p:txBody>
      </p:sp>
      <p:sp>
        <p:nvSpPr>
          <p:cNvPr id="67" name="Text 65"/>
          <p:cNvSpPr txBox="1"/>
          <p:nvPr/>
        </p:nvSpPr>
        <p:spPr>
          <a:xfrm>
            <a:off x="2414016" y="4736592"/>
            <a:ext cx="27928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 rate and reimbursement rules for site visits.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2414016" y="5340096"/>
            <a:ext cx="2792882" cy="0"/>
          </a:xfrm>
          <a:prstGeom prst="line">
            <a:avLst/>
          </a:prstGeom>
          <a:noFill/>
          <a:ln w="6350">
            <a:solidFill>
              <a:srgbClr val="C9D1D6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2414016" y="5385816"/>
            <a:ext cx="18293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</a:t>
            </a:r>
            <a:endParaRPr lang="en-US" sz="750" dirty="0"/>
          </a:p>
        </p:txBody>
      </p:sp>
      <p:sp>
        <p:nvSpPr>
          <p:cNvPr id="70" name="Text 68"/>
          <p:cNvSpPr txBox="1"/>
          <p:nvPr/>
        </p:nvSpPr>
        <p:spPr>
          <a:xfrm>
            <a:off x="4557674" y="53858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↗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5554370" y="3895344"/>
            <a:ext cx="3048914" cy="1737360"/>
          </a:xfrm>
          <a:prstGeom prst="roundRect">
            <a:avLst>
              <a:gd name="adj" fmla="val 2632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8000"/>
              </a:srgbClr>
            </a:outerShdw>
          </a:effectLst>
        </p:spPr>
      </p:sp>
      <p:sp>
        <p:nvSpPr>
          <p:cNvPr id="72" name="Text 70"/>
          <p:cNvSpPr txBox="1"/>
          <p:nvPr/>
        </p:nvSpPr>
        <p:spPr>
          <a:xfrm>
            <a:off x="5682386" y="3986784"/>
            <a:ext cx="16769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POL-405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7890053" y="3977640"/>
            <a:ext cx="621792" cy="173736"/>
          </a:xfrm>
          <a:prstGeom prst="roundRect">
            <a:avLst>
              <a:gd name="adj" fmla="val 15789"/>
            </a:avLst>
          </a:prstGeom>
          <a:solidFill>
            <a:srgbClr val="FBFCFC"/>
          </a:solidFill>
          <a:ln w="9525">
            <a:solidFill>
              <a:srgbClr val="B8842A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7890053" y="3977640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B884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UPDATED</a:t>
            </a:r>
            <a:endParaRPr lang="en-US" sz="650" dirty="0"/>
          </a:p>
        </p:txBody>
      </p:sp>
      <p:sp>
        <p:nvSpPr>
          <p:cNvPr id="75" name="Text 73"/>
          <p:cNvSpPr txBox="1"/>
          <p:nvPr/>
        </p:nvSpPr>
        <p:spPr>
          <a:xfrm>
            <a:off x="5682386" y="4187952"/>
            <a:ext cx="27928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&amp; Software Use Policy</a:t>
            </a:r>
            <a:endParaRPr lang="en-US" sz="1150" dirty="0"/>
          </a:p>
        </p:txBody>
      </p:sp>
      <p:sp>
        <p:nvSpPr>
          <p:cNvPr id="76" name="Text 74"/>
          <p:cNvSpPr txBox="1"/>
          <p:nvPr/>
        </p:nvSpPr>
        <p:spPr>
          <a:xfrm>
            <a:off x="5682386" y="4736592"/>
            <a:ext cx="27928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use and data-security requirements.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5682386" y="5340096"/>
            <a:ext cx="2792882" cy="0"/>
          </a:xfrm>
          <a:prstGeom prst="line">
            <a:avLst/>
          </a:prstGeom>
          <a:noFill/>
          <a:ln w="6350">
            <a:solidFill>
              <a:srgbClr val="C9D1D6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5682386" y="5385816"/>
            <a:ext cx="18293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</a:t>
            </a:r>
            <a:endParaRPr lang="en-US" sz="750" dirty="0"/>
          </a:p>
        </p:txBody>
      </p:sp>
      <p:sp>
        <p:nvSpPr>
          <p:cNvPr id="79" name="Text 77"/>
          <p:cNvSpPr txBox="1"/>
          <p:nvPr/>
        </p:nvSpPr>
        <p:spPr>
          <a:xfrm>
            <a:off x="7826045" y="53858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↗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BFCFC"/>
          </a:solidFill>
          <a:ln w="19050">
            <a:solidFill>
              <a:srgbClr val="1C25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46120" y="73152"/>
            <a:ext cx="0" cy="694944"/>
          </a:xfrm>
          <a:prstGeom prst="line">
            <a:avLst/>
          </a:prstGeom>
          <a:noFill/>
          <a:ln w="9525">
            <a:solidFill>
              <a:srgbClr val="C9D1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73152"/>
            <a:ext cx="0" cy="694944"/>
          </a:xfrm>
          <a:prstGeom prst="line">
            <a:avLst/>
          </a:prstGeom>
          <a:noFill/>
          <a:ln w="9525">
            <a:solidFill>
              <a:srgbClr val="C9D1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73152"/>
            <a:ext cx="0" cy="694944"/>
          </a:xfrm>
          <a:prstGeom prst="line">
            <a:avLst/>
          </a:prstGeom>
          <a:noFill/>
          <a:ln w="9525">
            <a:solidFill>
              <a:srgbClr val="C9D1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6032" y="1188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NAME ARCHITECTS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56032" y="4206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OFFICE HUB — WEBSITE CONCEPT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456432" y="246888"/>
            <a:ext cx="5394960" cy="347472"/>
          </a:xfrm>
          <a:prstGeom prst="roundRect">
            <a:avLst>
              <a:gd name="adj" fmla="val 15789"/>
            </a:avLst>
          </a:prstGeom>
          <a:solidFill>
            <a:srgbClr val="EEF1F3"/>
          </a:solidFill>
          <a:ln w="12700">
            <a:solidFill>
              <a:srgbClr val="C9D1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39312" y="24688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standards, templates, forms, SOPs, Revit standards…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17152" y="1280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9217152" y="3108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AUG 2026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118872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1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841248"/>
            <a:ext cx="1965960" cy="6016752"/>
          </a:xfrm>
          <a:prstGeom prst="rect">
            <a:avLst/>
          </a:prstGeom>
          <a:solidFill>
            <a:srgbClr val="FBFCFC"/>
          </a:solidFill>
          <a:ln w="9525">
            <a:solidFill>
              <a:srgbClr val="C9D1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2880" y="9692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SHEET INDEX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" y="12618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G-000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182880" y="14538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" y="181051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G-001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82880" y="200253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82880" y="23591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A-100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82880" y="255117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Standards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82880" y="2907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A-200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82880" y="30998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82880" y="345643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A-300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82880" y="36484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82880" y="40050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A-400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82880" y="41970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Policies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535424"/>
            <a:ext cx="1965960" cy="512064"/>
          </a:xfrm>
          <a:prstGeom prst="rect">
            <a:avLst/>
          </a:prstGeom>
          <a:solidFill>
            <a:srgbClr val="E3E8EA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4535424"/>
            <a:ext cx="45720" cy="512064"/>
          </a:xfrm>
          <a:prstGeom prst="rect">
            <a:avLst/>
          </a:prstGeom>
          <a:solidFill>
            <a:srgbClr val="C1432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82880" y="455371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A-500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82880" y="474573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82880" y="51023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A-600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182880" y="529437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Revit Standards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82880" y="56509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A-700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182880" y="58430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Directory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2286000" y="98755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50" kern="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Operating Procedures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2286000" y="1408176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procedures for recurring project workflows.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10698480" y="102412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SHEET A-500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286000" y="1773936"/>
            <a:ext cx="9585655" cy="0"/>
          </a:xfrm>
          <a:prstGeom prst="line">
            <a:avLst/>
          </a:prstGeom>
          <a:noFill/>
          <a:ln w="15875">
            <a:solidFill>
              <a:srgbClr val="1C253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86000" y="1956816"/>
            <a:ext cx="3048914" cy="1737360"/>
          </a:xfrm>
          <a:prstGeom prst="roundRect">
            <a:avLst>
              <a:gd name="adj" fmla="val 2632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8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2414016" y="2048256"/>
            <a:ext cx="16769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SOP-501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621682" y="2039112"/>
            <a:ext cx="621792" cy="173736"/>
          </a:xfrm>
          <a:prstGeom prst="roundRect">
            <a:avLst>
              <a:gd name="adj" fmla="val 15789"/>
            </a:avLst>
          </a:prstGeom>
          <a:solidFill>
            <a:srgbClr val="FBFCFC"/>
          </a:solidFill>
          <a:ln w="9525">
            <a:solidFill>
              <a:srgbClr val="3E7D5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621682" y="2039112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3E7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endParaRPr lang="en-US" sz="650" dirty="0"/>
          </a:p>
        </p:txBody>
      </p:sp>
      <p:sp>
        <p:nvSpPr>
          <p:cNvPr id="43" name="Text 41"/>
          <p:cNvSpPr txBox="1"/>
          <p:nvPr/>
        </p:nvSpPr>
        <p:spPr>
          <a:xfrm>
            <a:off x="2414016" y="2249424"/>
            <a:ext cx="27928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Kickoff SOP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2414016" y="2798064"/>
            <a:ext cx="27928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Numbering, folder structure, contracts, and team setup.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414016" y="3401568"/>
            <a:ext cx="2792882" cy="0"/>
          </a:xfrm>
          <a:prstGeom prst="line">
            <a:avLst/>
          </a:prstGeom>
          <a:noFill/>
          <a:ln w="6350">
            <a:solidFill>
              <a:srgbClr val="C9D1D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414016" y="3447288"/>
            <a:ext cx="18293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Doc</a:t>
            </a:r>
            <a:endParaRPr lang="en-US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4557674" y="34472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↗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554370" y="1956816"/>
            <a:ext cx="3048914" cy="1737360"/>
          </a:xfrm>
          <a:prstGeom prst="roundRect">
            <a:avLst>
              <a:gd name="adj" fmla="val 2632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8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5682386" y="2048256"/>
            <a:ext cx="16769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SOP-502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890053" y="2039112"/>
            <a:ext cx="621792" cy="173736"/>
          </a:xfrm>
          <a:prstGeom prst="roundRect">
            <a:avLst>
              <a:gd name="adj" fmla="val 15789"/>
            </a:avLst>
          </a:prstGeom>
          <a:solidFill>
            <a:srgbClr val="FBFCFC"/>
          </a:solidFill>
          <a:ln w="9525">
            <a:solidFill>
              <a:srgbClr val="3E7D5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890053" y="2039112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3E7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endParaRPr lang="en-US" sz="650" dirty="0"/>
          </a:p>
        </p:txBody>
      </p:sp>
      <p:sp>
        <p:nvSpPr>
          <p:cNvPr id="52" name="Text 50"/>
          <p:cNvSpPr txBox="1"/>
          <p:nvPr/>
        </p:nvSpPr>
        <p:spPr>
          <a:xfrm>
            <a:off x="5682386" y="2249424"/>
            <a:ext cx="27928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QA/QC Review SOP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5682386" y="2798064"/>
            <a:ext cx="27928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review checkpoints before issuing drawing sets.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682386" y="3401568"/>
            <a:ext cx="2792882" cy="0"/>
          </a:xfrm>
          <a:prstGeom prst="line">
            <a:avLst/>
          </a:prstGeom>
          <a:noFill/>
          <a:ln w="6350">
            <a:solidFill>
              <a:srgbClr val="C9D1D6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682386" y="3447288"/>
            <a:ext cx="18293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</a:t>
            </a:r>
            <a:endParaRPr lang="en-US" sz="750" dirty="0"/>
          </a:p>
        </p:txBody>
      </p:sp>
      <p:sp>
        <p:nvSpPr>
          <p:cNvPr id="56" name="Text 54"/>
          <p:cNvSpPr txBox="1"/>
          <p:nvPr/>
        </p:nvSpPr>
        <p:spPr>
          <a:xfrm>
            <a:off x="7826045" y="34472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↗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8822741" y="1956816"/>
            <a:ext cx="3048914" cy="1737360"/>
          </a:xfrm>
          <a:prstGeom prst="roundRect">
            <a:avLst>
              <a:gd name="adj" fmla="val 2632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8000"/>
              </a:srgbClr>
            </a:outerShdw>
          </a:effectLst>
        </p:spPr>
      </p:sp>
      <p:sp>
        <p:nvSpPr>
          <p:cNvPr id="58" name="Text 56"/>
          <p:cNvSpPr txBox="1"/>
          <p:nvPr/>
        </p:nvSpPr>
        <p:spPr>
          <a:xfrm>
            <a:off x="8950757" y="2048256"/>
            <a:ext cx="16769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SOP-503</a:t>
            </a:r>
            <a:endParaRPr lang="en-US" sz="800" dirty="0"/>
          </a:p>
        </p:txBody>
      </p:sp>
      <p:sp>
        <p:nvSpPr>
          <p:cNvPr id="59" name="Text 57"/>
          <p:cNvSpPr txBox="1"/>
          <p:nvPr/>
        </p:nvSpPr>
        <p:spPr>
          <a:xfrm>
            <a:off x="8950757" y="2249424"/>
            <a:ext cx="27928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Submittal Review SOP</a:t>
            </a:r>
            <a:endParaRPr lang="en-US" sz="1150" dirty="0"/>
          </a:p>
        </p:txBody>
      </p:sp>
      <p:sp>
        <p:nvSpPr>
          <p:cNvPr id="60" name="Text 58"/>
          <p:cNvSpPr txBox="1"/>
          <p:nvPr/>
        </p:nvSpPr>
        <p:spPr>
          <a:xfrm>
            <a:off x="8950757" y="2798064"/>
            <a:ext cx="27928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Log, route, and respond to contractor submittals.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8950757" y="3401568"/>
            <a:ext cx="2792882" cy="0"/>
          </a:xfrm>
          <a:prstGeom prst="line">
            <a:avLst/>
          </a:prstGeom>
          <a:noFill/>
          <a:ln w="6350">
            <a:solidFill>
              <a:srgbClr val="C9D1D6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950757" y="3447288"/>
            <a:ext cx="18293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Doc</a:t>
            </a:r>
            <a:endParaRPr lang="en-US" sz="750" dirty="0"/>
          </a:p>
        </p:txBody>
      </p:sp>
      <p:sp>
        <p:nvSpPr>
          <p:cNvPr id="63" name="Text 61"/>
          <p:cNvSpPr txBox="1"/>
          <p:nvPr/>
        </p:nvSpPr>
        <p:spPr>
          <a:xfrm>
            <a:off x="11094415" y="34472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↗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286000" y="3895344"/>
            <a:ext cx="3048914" cy="1737360"/>
          </a:xfrm>
          <a:prstGeom prst="roundRect">
            <a:avLst>
              <a:gd name="adj" fmla="val 2632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8000"/>
              </a:srgbClr>
            </a:outerShdw>
          </a:effectLst>
        </p:spPr>
      </p:sp>
      <p:sp>
        <p:nvSpPr>
          <p:cNvPr id="65" name="Text 63"/>
          <p:cNvSpPr txBox="1"/>
          <p:nvPr/>
        </p:nvSpPr>
        <p:spPr>
          <a:xfrm>
            <a:off x="2414016" y="3986784"/>
            <a:ext cx="16769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SOP-504</a:t>
            </a:r>
            <a:endParaRPr lang="en-US" sz="800" dirty="0"/>
          </a:p>
        </p:txBody>
      </p:sp>
      <p:sp>
        <p:nvSpPr>
          <p:cNvPr id="66" name="Text 64"/>
          <p:cNvSpPr txBox="1"/>
          <p:nvPr/>
        </p:nvSpPr>
        <p:spPr>
          <a:xfrm>
            <a:off x="2414016" y="4187952"/>
            <a:ext cx="27928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Onboarding SOP</a:t>
            </a:r>
            <a:endParaRPr lang="en-US" sz="1150" dirty="0"/>
          </a:p>
        </p:txBody>
      </p:sp>
      <p:sp>
        <p:nvSpPr>
          <p:cNvPr id="67" name="Text 65"/>
          <p:cNvSpPr txBox="1"/>
          <p:nvPr/>
        </p:nvSpPr>
        <p:spPr>
          <a:xfrm>
            <a:off x="2414016" y="4736592"/>
            <a:ext cx="27928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execution and kickoff scheduling for new clients.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2414016" y="5340096"/>
            <a:ext cx="2792882" cy="0"/>
          </a:xfrm>
          <a:prstGeom prst="line">
            <a:avLst/>
          </a:prstGeom>
          <a:noFill/>
          <a:ln w="6350">
            <a:solidFill>
              <a:srgbClr val="C9D1D6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2414016" y="5385816"/>
            <a:ext cx="18293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Doc</a:t>
            </a:r>
            <a:endParaRPr lang="en-US" sz="750" dirty="0"/>
          </a:p>
        </p:txBody>
      </p:sp>
      <p:sp>
        <p:nvSpPr>
          <p:cNvPr id="70" name="Text 68"/>
          <p:cNvSpPr txBox="1"/>
          <p:nvPr/>
        </p:nvSpPr>
        <p:spPr>
          <a:xfrm>
            <a:off x="4557674" y="53858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↗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5554370" y="3895344"/>
            <a:ext cx="3048914" cy="1737360"/>
          </a:xfrm>
          <a:prstGeom prst="roundRect">
            <a:avLst>
              <a:gd name="adj" fmla="val 2632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8000"/>
              </a:srgbClr>
            </a:outerShdw>
          </a:effectLst>
        </p:spPr>
      </p:sp>
      <p:sp>
        <p:nvSpPr>
          <p:cNvPr id="72" name="Text 70"/>
          <p:cNvSpPr txBox="1"/>
          <p:nvPr/>
        </p:nvSpPr>
        <p:spPr>
          <a:xfrm>
            <a:off x="5682386" y="3986784"/>
            <a:ext cx="16769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SOP-505</a:t>
            </a:r>
            <a:endParaRPr lang="en-US" sz="800" dirty="0"/>
          </a:p>
        </p:txBody>
      </p:sp>
      <p:sp>
        <p:nvSpPr>
          <p:cNvPr id="73" name="Text 71"/>
          <p:cNvSpPr txBox="1"/>
          <p:nvPr/>
        </p:nvSpPr>
        <p:spPr>
          <a:xfrm>
            <a:off x="5682386" y="4187952"/>
            <a:ext cx="27928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Backup &amp; Archiving SOP</a:t>
            </a:r>
            <a:endParaRPr lang="en-US" sz="1150" dirty="0"/>
          </a:p>
        </p:txBody>
      </p:sp>
      <p:sp>
        <p:nvSpPr>
          <p:cNvPr id="74" name="Text 72"/>
          <p:cNvSpPr txBox="1"/>
          <p:nvPr/>
        </p:nvSpPr>
        <p:spPr>
          <a:xfrm>
            <a:off x="5682386" y="4736592"/>
            <a:ext cx="27928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cadence and archive procedure for project files.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5682386" y="5340096"/>
            <a:ext cx="2792882" cy="0"/>
          </a:xfrm>
          <a:prstGeom prst="line">
            <a:avLst/>
          </a:prstGeom>
          <a:noFill/>
          <a:ln w="6350">
            <a:solidFill>
              <a:srgbClr val="C9D1D6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5682386" y="5385816"/>
            <a:ext cx="18293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</a:t>
            </a:r>
            <a:endParaRPr lang="en-US" sz="750" dirty="0"/>
          </a:p>
        </p:txBody>
      </p:sp>
      <p:sp>
        <p:nvSpPr>
          <p:cNvPr id="77" name="Text 75"/>
          <p:cNvSpPr txBox="1"/>
          <p:nvPr/>
        </p:nvSpPr>
        <p:spPr>
          <a:xfrm>
            <a:off x="7826045" y="53858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↗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8822741" y="3895344"/>
            <a:ext cx="3048914" cy="1737360"/>
          </a:xfrm>
          <a:prstGeom prst="roundRect">
            <a:avLst>
              <a:gd name="adj" fmla="val 2632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8000"/>
              </a:srgbClr>
            </a:outerShdw>
          </a:effectLst>
        </p:spPr>
      </p:sp>
      <p:sp>
        <p:nvSpPr>
          <p:cNvPr id="79" name="Text 77"/>
          <p:cNvSpPr txBox="1"/>
          <p:nvPr/>
        </p:nvSpPr>
        <p:spPr>
          <a:xfrm>
            <a:off x="8950757" y="3986784"/>
            <a:ext cx="16769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SOP-506</a:t>
            </a:r>
            <a:endParaRPr lang="en-US" sz="800" dirty="0"/>
          </a:p>
        </p:txBody>
      </p:sp>
      <p:sp>
        <p:nvSpPr>
          <p:cNvPr id="80" name="Text 78"/>
          <p:cNvSpPr txBox="1"/>
          <p:nvPr/>
        </p:nvSpPr>
        <p:spPr>
          <a:xfrm>
            <a:off x="8950757" y="4187952"/>
            <a:ext cx="27928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Drawing Issue &amp; Plotting SOP</a:t>
            </a:r>
            <a:endParaRPr lang="en-US" sz="1150" dirty="0"/>
          </a:p>
        </p:txBody>
      </p:sp>
      <p:sp>
        <p:nvSpPr>
          <p:cNvPr id="81" name="Text 79"/>
          <p:cNvSpPr txBox="1"/>
          <p:nvPr/>
        </p:nvSpPr>
        <p:spPr>
          <a:xfrm>
            <a:off x="8950757" y="4736592"/>
            <a:ext cx="27928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review, plotting, and transmittal logging.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8950757" y="5340096"/>
            <a:ext cx="2792882" cy="0"/>
          </a:xfrm>
          <a:prstGeom prst="line">
            <a:avLst/>
          </a:prstGeom>
          <a:noFill/>
          <a:ln w="6350">
            <a:solidFill>
              <a:srgbClr val="C9D1D6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8950757" y="5385816"/>
            <a:ext cx="18293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</a:t>
            </a:r>
            <a:endParaRPr lang="en-US" sz="750" dirty="0"/>
          </a:p>
        </p:txBody>
      </p:sp>
      <p:sp>
        <p:nvSpPr>
          <p:cNvPr id="84" name="Text 82"/>
          <p:cNvSpPr txBox="1"/>
          <p:nvPr/>
        </p:nvSpPr>
        <p:spPr>
          <a:xfrm>
            <a:off x="11094415" y="53858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↗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BFCFC"/>
          </a:solidFill>
          <a:ln w="19050">
            <a:solidFill>
              <a:srgbClr val="1C25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46120" y="73152"/>
            <a:ext cx="0" cy="694944"/>
          </a:xfrm>
          <a:prstGeom prst="line">
            <a:avLst/>
          </a:prstGeom>
          <a:noFill/>
          <a:ln w="9525">
            <a:solidFill>
              <a:srgbClr val="C9D1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73152"/>
            <a:ext cx="0" cy="694944"/>
          </a:xfrm>
          <a:prstGeom prst="line">
            <a:avLst/>
          </a:prstGeom>
          <a:noFill/>
          <a:ln w="9525">
            <a:solidFill>
              <a:srgbClr val="C9D1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73152"/>
            <a:ext cx="0" cy="694944"/>
          </a:xfrm>
          <a:prstGeom prst="line">
            <a:avLst/>
          </a:prstGeom>
          <a:noFill/>
          <a:ln w="9525">
            <a:solidFill>
              <a:srgbClr val="C9D1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6032" y="1188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NAME ARCHITECTS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56032" y="4206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OFFICE HUB — WEBSITE CONCEPT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456432" y="246888"/>
            <a:ext cx="5394960" cy="347472"/>
          </a:xfrm>
          <a:prstGeom prst="roundRect">
            <a:avLst>
              <a:gd name="adj" fmla="val 15789"/>
            </a:avLst>
          </a:prstGeom>
          <a:solidFill>
            <a:srgbClr val="EEF1F3"/>
          </a:solidFill>
          <a:ln w="12700">
            <a:solidFill>
              <a:srgbClr val="C9D1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39312" y="24688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standards, templates, forms, SOPs, Revit standards…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17152" y="1280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9217152" y="3108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AUG 2026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118872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1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841248"/>
            <a:ext cx="1965960" cy="6016752"/>
          </a:xfrm>
          <a:prstGeom prst="rect">
            <a:avLst/>
          </a:prstGeom>
          <a:solidFill>
            <a:srgbClr val="FBFCFC"/>
          </a:solidFill>
          <a:ln w="9525">
            <a:solidFill>
              <a:srgbClr val="C9D1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2880" y="9692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SHEET INDEX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" y="12618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G-000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182880" y="14538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" y="181051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G-001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82880" y="200253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82880" y="23591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A-100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82880" y="255117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Standards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82880" y="2907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A-200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82880" y="30998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82880" y="345643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A-300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82880" y="36484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82880" y="40050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A-400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82880" y="41970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Policies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82880" y="455371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A-500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182880" y="474573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084064"/>
            <a:ext cx="1965960" cy="512064"/>
          </a:xfrm>
          <a:prstGeom prst="rect">
            <a:avLst/>
          </a:prstGeom>
          <a:solidFill>
            <a:srgbClr val="E3E8EA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084064"/>
            <a:ext cx="45720" cy="512064"/>
          </a:xfrm>
          <a:prstGeom prst="rect">
            <a:avLst/>
          </a:prstGeom>
          <a:solidFill>
            <a:srgbClr val="C1432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82880" y="51023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A-600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182880" y="529437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Revit Standards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82880" y="56509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A-700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182880" y="58430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Directory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2286000" y="98755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50" kern="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Revit Standards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2286000" y="1408176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execution standards for model setup, families, views, sheets, and plotting.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10698480" y="102412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SHEET A-600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286000" y="1773936"/>
            <a:ext cx="9585655" cy="0"/>
          </a:xfrm>
          <a:prstGeom prst="line">
            <a:avLst/>
          </a:prstGeom>
          <a:noFill/>
          <a:ln w="15875">
            <a:solidFill>
              <a:srgbClr val="1C253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86000" y="1956816"/>
            <a:ext cx="2231822" cy="1965960"/>
          </a:xfrm>
          <a:prstGeom prst="roundRect">
            <a:avLst>
              <a:gd name="adj" fmla="val 2326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8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2414016" y="2048256"/>
            <a:ext cx="12275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BIM-601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804590" y="2039112"/>
            <a:ext cx="621792" cy="173736"/>
          </a:xfrm>
          <a:prstGeom prst="roundRect">
            <a:avLst>
              <a:gd name="adj" fmla="val 15789"/>
            </a:avLst>
          </a:prstGeom>
          <a:solidFill>
            <a:srgbClr val="FBFCFC"/>
          </a:solidFill>
          <a:ln w="9525">
            <a:solidFill>
              <a:srgbClr val="3E7D5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804590" y="2039112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3E7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endParaRPr lang="en-US" sz="650" dirty="0"/>
          </a:p>
        </p:txBody>
      </p:sp>
      <p:sp>
        <p:nvSpPr>
          <p:cNvPr id="43" name="Text 41"/>
          <p:cNvSpPr txBox="1"/>
          <p:nvPr/>
        </p:nvSpPr>
        <p:spPr>
          <a:xfrm>
            <a:off x="2414016" y="2249424"/>
            <a:ext cx="197579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Setup &amp; Worksharing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2414016" y="2798064"/>
            <a:ext cx="197579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file location, worksets, and sync frequency.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414016" y="3630168"/>
            <a:ext cx="1975790" cy="0"/>
          </a:xfrm>
          <a:prstGeom prst="line">
            <a:avLst/>
          </a:prstGeom>
          <a:noFill/>
          <a:ln w="6350">
            <a:solidFill>
              <a:srgbClr val="C9D1D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414016" y="3675888"/>
            <a:ext cx="133909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</a:t>
            </a:r>
            <a:endParaRPr lang="en-US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3740582" y="36758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↗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737278" y="1956816"/>
            <a:ext cx="2231822" cy="1965960"/>
          </a:xfrm>
          <a:prstGeom prst="roundRect">
            <a:avLst>
              <a:gd name="adj" fmla="val 2326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8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4865294" y="2048256"/>
            <a:ext cx="12275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BIM-602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4865294" y="2249424"/>
            <a:ext cx="197579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Library &amp; Naming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4865294" y="2798064"/>
            <a:ext cx="197579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family library location and naming convention.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865294" y="3630168"/>
            <a:ext cx="1975790" cy="0"/>
          </a:xfrm>
          <a:prstGeom prst="line">
            <a:avLst/>
          </a:prstGeom>
          <a:noFill/>
          <a:ln w="6350">
            <a:solidFill>
              <a:srgbClr val="C9D1D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865294" y="3675888"/>
            <a:ext cx="133909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</a:t>
            </a:r>
            <a:endParaRPr lang="en-US" sz="750" dirty="0"/>
          </a:p>
        </p:txBody>
      </p:sp>
      <p:sp>
        <p:nvSpPr>
          <p:cNvPr id="54" name="Text 52"/>
          <p:cNvSpPr txBox="1"/>
          <p:nvPr/>
        </p:nvSpPr>
        <p:spPr>
          <a:xfrm>
            <a:off x="6191860" y="36758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↗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7188556" y="1956816"/>
            <a:ext cx="2231822" cy="1965960"/>
          </a:xfrm>
          <a:prstGeom prst="roundRect">
            <a:avLst>
              <a:gd name="adj" fmla="val 2326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8000"/>
              </a:srgbClr>
            </a:outerShdw>
          </a:effectLst>
        </p:spPr>
      </p:sp>
      <p:sp>
        <p:nvSpPr>
          <p:cNvPr id="56" name="Text 54"/>
          <p:cNvSpPr txBox="1"/>
          <p:nvPr/>
        </p:nvSpPr>
        <p:spPr>
          <a:xfrm>
            <a:off x="7316572" y="2048256"/>
            <a:ext cx="12275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BIM-603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7316572" y="2249424"/>
            <a:ext cx="197579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Templates &amp; Graphics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7316572" y="2798064"/>
            <a:ext cx="197579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view templates and graphic overrides.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316572" y="3630168"/>
            <a:ext cx="1975790" cy="0"/>
          </a:xfrm>
          <a:prstGeom prst="line">
            <a:avLst/>
          </a:prstGeom>
          <a:noFill/>
          <a:ln w="6350">
            <a:solidFill>
              <a:srgbClr val="C9D1D6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316572" y="3675888"/>
            <a:ext cx="133909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RVT</a:t>
            </a:r>
            <a:endParaRPr lang="en-US" sz="750" dirty="0"/>
          </a:p>
        </p:txBody>
      </p:sp>
      <p:sp>
        <p:nvSpPr>
          <p:cNvPr id="61" name="Text 59"/>
          <p:cNvSpPr txBox="1"/>
          <p:nvPr/>
        </p:nvSpPr>
        <p:spPr>
          <a:xfrm>
            <a:off x="8643137" y="36758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↗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9639833" y="1956816"/>
            <a:ext cx="2231822" cy="1965960"/>
          </a:xfrm>
          <a:prstGeom prst="roundRect">
            <a:avLst>
              <a:gd name="adj" fmla="val 2326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8000"/>
              </a:srgbClr>
            </a:outerShdw>
          </a:effectLst>
        </p:spPr>
      </p:sp>
      <p:sp>
        <p:nvSpPr>
          <p:cNvPr id="63" name="Text 61"/>
          <p:cNvSpPr txBox="1"/>
          <p:nvPr/>
        </p:nvSpPr>
        <p:spPr>
          <a:xfrm>
            <a:off x="9767849" y="2048256"/>
            <a:ext cx="12275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BIM-604</a:t>
            </a:r>
            <a:endParaRPr lang="en-US" sz="800" dirty="0"/>
          </a:p>
        </p:txBody>
      </p:sp>
      <p:sp>
        <p:nvSpPr>
          <p:cNvPr id="64" name="Text 62"/>
          <p:cNvSpPr txBox="1"/>
          <p:nvPr/>
        </p:nvSpPr>
        <p:spPr>
          <a:xfrm>
            <a:off x="9767849" y="2249424"/>
            <a:ext cx="197579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Sheet &amp; View Numbering</a:t>
            </a:r>
            <a:endParaRPr lang="en-US" sz="1050" dirty="0"/>
          </a:p>
        </p:txBody>
      </p:sp>
      <p:sp>
        <p:nvSpPr>
          <p:cNvPr id="65" name="Text 63"/>
          <p:cNvSpPr txBox="1"/>
          <p:nvPr/>
        </p:nvSpPr>
        <p:spPr>
          <a:xfrm>
            <a:off x="9767849" y="2798064"/>
            <a:ext cx="197579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naming aligned to the office sheet-numbering standard.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9767849" y="3630168"/>
            <a:ext cx="1975790" cy="0"/>
          </a:xfrm>
          <a:prstGeom prst="line">
            <a:avLst/>
          </a:prstGeom>
          <a:noFill/>
          <a:ln w="6350">
            <a:solidFill>
              <a:srgbClr val="C9D1D6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9767849" y="3675888"/>
            <a:ext cx="133909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</a:t>
            </a:r>
            <a:endParaRPr lang="en-US" sz="750" dirty="0"/>
          </a:p>
        </p:txBody>
      </p:sp>
      <p:sp>
        <p:nvSpPr>
          <p:cNvPr id="68" name="Text 66"/>
          <p:cNvSpPr txBox="1"/>
          <p:nvPr/>
        </p:nvSpPr>
        <p:spPr>
          <a:xfrm>
            <a:off x="11094415" y="36758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↗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2286000" y="4123944"/>
            <a:ext cx="2231822" cy="1965960"/>
          </a:xfrm>
          <a:prstGeom prst="roundRect">
            <a:avLst>
              <a:gd name="adj" fmla="val 2326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8000"/>
              </a:srgbClr>
            </a:outerShdw>
          </a:effectLst>
        </p:spPr>
      </p:sp>
      <p:sp>
        <p:nvSpPr>
          <p:cNvPr id="70" name="Text 68"/>
          <p:cNvSpPr txBox="1"/>
          <p:nvPr/>
        </p:nvSpPr>
        <p:spPr>
          <a:xfrm>
            <a:off x="2414016" y="4215384"/>
            <a:ext cx="12275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BIM-605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804590" y="4206240"/>
            <a:ext cx="621792" cy="173736"/>
          </a:xfrm>
          <a:prstGeom prst="roundRect">
            <a:avLst>
              <a:gd name="adj" fmla="val 15789"/>
            </a:avLst>
          </a:prstGeom>
          <a:solidFill>
            <a:srgbClr val="FBFCFC"/>
          </a:solidFill>
          <a:ln w="9525">
            <a:solidFill>
              <a:srgbClr val="B8842A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3804590" y="4206240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B884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UPDATED</a:t>
            </a:r>
            <a:endParaRPr lang="en-US" sz="650" dirty="0"/>
          </a:p>
        </p:txBody>
      </p:sp>
      <p:sp>
        <p:nvSpPr>
          <p:cNvPr id="73" name="Text 71"/>
          <p:cNvSpPr txBox="1"/>
          <p:nvPr/>
        </p:nvSpPr>
        <p:spPr>
          <a:xfrm>
            <a:off x="2414016" y="4416552"/>
            <a:ext cx="197579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of Development Matrix</a:t>
            </a:r>
            <a:endParaRPr lang="en-US" sz="1050" dirty="0"/>
          </a:p>
        </p:txBody>
      </p:sp>
      <p:sp>
        <p:nvSpPr>
          <p:cNvPr id="74" name="Text 72"/>
          <p:cNvSpPr txBox="1"/>
          <p:nvPr/>
        </p:nvSpPr>
        <p:spPr>
          <a:xfrm>
            <a:off x="2414016" y="4965192"/>
            <a:ext cx="197579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LOD by element and project phase.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2414016" y="5797296"/>
            <a:ext cx="1975790" cy="0"/>
          </a:xfrm>
          <a:prstGeom prst="line">
            <a:avLst/>
          </a:prstGeom>
          <a:noFill/>
          <a:ln w="6350">
            <a:solidFill>
              <a:srgbClr val="C9D1D6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2414016" y="5843016"/>
            <a:ext cx="133909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Sheet</a:t>
            </a:r>
            <a:endParaRPr lang="en-US" sz="750" dirty="0"/>
          </a:p>
        </p:txBody>
      </p:sp>
      <p:sp>
        <p:nvSpPr>
          <p:cNvPr id="77" name="Text 75"/>
          <p:cNvSpPr txBox="1"/>
          <p:nvPr/>
        </p:nvSpPr>
        <p:spPr>
          <a:xfrm>
            <a:off x="3740582" y="58430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↗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4737278" y="4123944"/>
            <a:ext cx="2231822" cy="1965960"/>
          </a:xfrm>
          <a:prstGeom prst="roundRect">
            <a:avLst>
              <a:gd name="adj" fmla="val 2326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8000"/>
              </a:srgbClr>
            </a:outerShdw>
          </a:effectLst>
        </p:spPr>
      </p:sp>
      <p:sp>
        <p:nvSpPr>
          <p:cNvPr id="79" name="Text 77"/>
          <p:cNvSpPr txBox="1"/>
          <p:nvPr/>
        </p:nvSpPr>
        <p:spPr>
          <a:xfrm>
            <a:off x="4865294" y="4215384"/>
            <a:ext cx="12275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BIM-606</a:t>
            </a:r>
            <a:endParaRPr lang="en-US" sz="800" dirty="0"/>
          </a:p>
        </p:txBody>
      </p:sp>
      <p:sp>
        <p:nvSpPr>
          <p:cNvPr id="80" name="Text 78"/>
          <p:cNvSpPr txBox="1"/>
          <p:nvPr/>
        </p:nvSpPr>
        <p:spPr>
          <a:xfrm>
            <a:off x="4865294" y="4416552"/>
            <a:ext cx="197579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CAD-to-Revit Linking</a:t>
            </a:r>
            <a:endParaRPr lang="en-US" sz="1050" dirty="0"/>
          </a:p>
        </p:txBody>
      </p:sp>
      <p:sp>
        <p:nvSpPr>
          <p:cNvPr id="81" name="Text 79"/>
          <p:cNvSpPr txBox="1"/>
          <p:nvPr/>
        </p:nvSpPr>
        <p:spPr>
          <a:xfrm>
            <a:off x="4865294" y="4965192"/>
            <a:ext cx="197579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vs. import rules and shared coordinates.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865294" y="5797296"/>
            <a:ext cx="1975790" cy="0"/>
          </a:xfrm>
          <a:prstGeom prst="line">
            <a:avLst/>
          </a:prstGeom>
          <a:noFill/>
          <a:ln w="6350">
            <a:solidFill>
              <a:srgbClr val="C9D1D6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4865294" y="5843016"/>
            <a:ext cx="133909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</a:t>
            </a:r>
            <a:endParaRPr lang="en-US" sz="750" dirty="0"/>
          </a:p>
        </p:txBody>
      </p:sp>
      <p:sp>
        <p:nvSpPr>
          <p:cNvPr id="84" name="Text 82"/>
          <p:cNvSpPr txBox="1"/>
          <p:nvPr/>
        </p:nvSpPr>
        <p:spPr>
          <a:xfrm>
            <a:off x="6191860" y="58430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↗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7188556" y="4123944"/>
            <a:ext cx="2231822" cy="1965960"/>
          </a:xfrm>
          <a:prstGeom prst="roundRect">
            <a:avLst>
              <a:gd name="adj" fmla="val 2326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8000"/>
              </a:srgbClr>
            </a:outerShdw>
          </a:effectLst>
        </p:spPr>
      </p:sp>
      <p:sp>
        <p:nvSpPr>
          <p:cNvPr id="86" name="Text 84"/>
          <p:cNvSpPr txBox="1"/>
          <p:nvPr/>
        </p:nvSpPr>
        <p:spPr>
          <a:xfrm>
            <a:off x="7316572" y="4215384"/>
            <a:ext cx="12275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BIM-607</a:t>
            </a:r>
            <a:endParaRPr lang="en-US" sz="800" dirty="0"/>
          </a:p>
        </p:txBody>
      </p:sp>
      <p:sp>
        <p:nvSpPr>
          <p:cNvPr id="87" name="Text 85"/>
          <p:cNvSpPr txBox="1"/>
          <p:nvPr/>
        </p:nvSpPr>
        <p:spPr>
          <a:xfrm>
            <a:off x="7316572" y="4416552"/>
            <a:ext cx="197579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Keynoting Standard</a:t>
            </a:r>
            <a:endParaRPr lang="en-US" sz="1050" dirty="0"/>
          </a:p>
        </p:txBody>
      </p:sp>
      <p:sp>
        <p:nvSpPr>
          <p:cNvPr id="88" name="Text 86"/>
          <p:cNvSpPr txBox="1"/>
          <p:nvPr/>
        </p:nvSpPr>
        <p:spPr>
          <a:xfrm>
            <a:off x="7316572" y="4965192"/>
            <a:ext cx="197579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Keynote file location and numbering convention.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7316572" y="5797296"/>
            <a:ext cx="1975790" cy="0"/>
          </a:xfrm>
          <a:prstGeom prst="line">
            <a:avLst/>
          </a:prstGeom>
          <a:noFill/>
          <a:ln w="6350">
            <a:solidFill>
              <a:srgbClr val="C9D1D6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7316572" y="5843016"/>
            <a:ext cx="133909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</a:t>
            </a:r>
            <a:endParaRPr lang="en-US" sz="750" dirty="0"/>
          </a:p>
        </p:txBody>
      </p:sp>
      <p:sp>
        <p:nvSpPr>
          <p:cNvPr id="91" name="Text 89"/>
          <p:cNvSpPr txBox="1"/>
          <p:nvPr/>
        </p:nvSpPr>
        <p:spPr>
          <a:xfrm>
            <a:off x="8643137" y="58430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↗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9639833" y="4123944"/>
            <a:ext cx="2231822" cy="1965960"/>
          </a:xfrm>
          <a:prstGeom prst="roundRect">
            <a:avLst>
              <a:gd name="adj" fmla="val 2326"/>
            </a:avLst>
          </a:prstGeom>
          <a:solidFill>
            <a:srgbClr val="FBFCFC"/>
          </a:solidFill>
          <a:ln w="12700">
            <a:solidFill>
              <a:srgbClr val="C9D1D6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8000"/>
              </a:srgbClr>
            </a:outerShdw>
          </a:effectLst>
        </p:spPr>
      </p:sp>
      <p:sp>
        <p:nvSpPr>
          <p:cNvPr id="93" name="Text 91"/>
          <p:cNvSpPr txBox="1"/>
          <p:nvPr/>
        </p:nvSpPr>
        <p:spPr>
          <a:xfrm>
            <a:off x="9767849" y="4215384"/>
            <a:ext cx="12275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BIM-608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11158423" y="4206240"/>
            <a:ext cx="621792" cy="173736"/>
          </a:xfrm>
          <a:prstGeom prst="roundRect">
            <a:avLst>
              <a:gd name="adj" fmla="val 15789"/>
            </a:avLst>
          </a:prstGeom>
          <a:solidFill>
            <a:srgbClr val="FBFCFC"/>
          </a:solidFill>
          <a:ln w="9525">
            <a:solidFill>
              <a:srgbClr val="C1432A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11158423" y="4206240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endParaRPr lang="en-US" sz="650" dirty="0"/>
          </a:p>
        </p:txBody>
      </p:sp>
      <p:sp>
        <p:nvSpPr>
          <p:cNvPr id="96" name="Text 94"/>
          <p:cNvSpPr txBox="1"/>
          <p:nvPr/>
        </p:nvSpPr>
        <p:spPr>
          <a:xfrm>
            <a:off x="9767849" y="4416552"/>
            <a:ext cx="197579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Health &amp; Audit Checklist</a:t>
            </a:r>
            <a:endParaRPr lang="en-US" sz="1050" dirty="0"/>
          </a:p>
        </p:txBody>
      </p:sp>
      <p:sp>
        <p:nvSpPr>
          <p:cNvPr id="97" name="Text 95"/>
          <p:cNvSpPr txBox="1"/>
          <p:nvPr/>
        </p:nvSpPr>
        <p:spPr>
          <a:xfrm>
            <a:off x="9767849" y="4965192"/>
            <a:ext cx="197579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checklist for purging and warnings review.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9767849" y="5797296"/>
            <a:ext cx="1975790" cy="0"/>
          </a:xfrm>
          <a:prstGeom prst="line">
            <a:avLst/>
          </a:prstGeom>
          <a:noFill/>
          <a:ln w="6350">
            <a:solidFill>
              <a:srgbClr val="C9D1D6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9767849" y="5843016"/>
            <a:ext cx="133909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Sheet</a:t>
            </a:r>
            <a:endParaRPr lang="en-US" sz="750" dirty="0"/>
          </a:p>
        </p:txBody>
      </p:sp>
      <p:sp>
        <p:nvSpPr>
          <p:cNvPr id="100" name="Text 98"/>
          <p:cNvSpPr txBox="1"/>
          <p:nvPr/>
        </p:nvSpPr>
        <p:spPr>
          <a:xfrm>
            <a:off x="11094415" y="58430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↗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Concept to Live Site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384048" cy="384048"/>
          </a:xfrm>
          <a:prstGeom prst="ellipse">
            <a:avLst/>
          </a:prstGeom>
          <a:solidFill>
            <a:srgbClr val="C143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64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look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385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layout, colors, and sections shown in this deck.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560320"/>
            <a:ext cx="384048" cy="384048"/>
          </a:xfrm>
          <a:prstGeom prst="ellipse">
            <a:avLst/>
          </a:prstGeom>
          <a:solidFill>
            <a:srgbClr val="C143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32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Google Sites theme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072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Sites, use Insert → Themes to apply the palette and fonts below.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429000"/>
            <a:ext cx="384048" cy="384048"/>
          </a:xfrm>
          <a:prstGeom prst="ellipse">
            <a:avLst/>
          </a:prstGeom>
          <a:solidFill>
            <a:srgbClr val="C1432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01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each page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67588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 each section natively in Sites using text boxes, buttons, and embedded Drive files.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297680"/>
            <a:ext cx="384048" cy="384048"/>
          </a:xfrm>
          <a:prstGeom prst="ellipse">
            <a:avLst/>
          </a:prstGeom>
          <a:solidFill>
            <a:srgbClr val="C1432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2702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real links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5445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your actual Drive, Docs, Sheets, and Forms URLs — none are live yet.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92240" y="1691640"/>
            <a:ext cx="4937760" cy="4572000"/>
          </a:xfrm>
          <a:prstGeom prst="roundRect">
            <a:avLst>
              <a:gd name="adj" fmla="val 1200"/>
            </a:avLst>
          </a:prstGeom>
          <a:solidFill>
            <a:srgbClr val="0F2A46"/>
          </a:solidFill>
          <a:ln w="12700">
            <a:solidFill>
              <a:srgbClr val="2C547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66560" y="18745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 SPEC — FOR THE SITES COLOR PICKER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66560" y="228600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C2530"/>
          </a:solidFill>
          <a:ln w="12700">
            <a:solidFill>
              <a:srgbClr val="2C547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69480" y="23042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 / Text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24871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#1C2530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766560" y="281635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EEF1F3"/>
          </a:solidFill>
          <a:ln w="12700">
            <a:solidFill>
              <a:srgbClr val="2C547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69480" y="28346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/ Background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269480" y="30175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#EEF1F3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766560" y="334670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1432A"/>
          </a:solidFill>
          <a:ln w="12700">
            <a:solidFill>
              <a:srgbClr val="2C547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69480" y="33649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(Redline)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269480" y="35478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#C1432A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766560" y="387705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B8842A"/>
          </a:solidFill>
          <a:ln w="12700">
            <a:solidFill>
              <a:srgbClr val="2C547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269480" y="38953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7269480" y="407822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#B8842A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766560" y="440740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3E7D5C"/>
          </a:solidFill>
          <a:ln w="12700">
            <a:solidFill>
              <a:srgbClr val="2C547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269480" y="44256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/ Required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7269480" y="46085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#3E7D5C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766560" y="4983480"/>
            <a:ext cx="4389120" cy="0"/>
          </a:xfrm>
          <a:prstGeom prst="line">
            <a:avLst/>
          </a:prstGeom>
          <a:noFill/>
          <a:ln w="9525">
            <a:solidFill>
              <a:srgbClr val="2C547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766560" y="51663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FONTS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6766560" y="540410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Headings: Arial (Bold, uppercase)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766560" y="566013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Body: Calibri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766560" y="591616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/ codes: Courier New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766560" y="630021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9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content on the previous pages is placeholder sample text — nothing is linked to a real file yet.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Hub — Folder Structure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98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folders that drive every auto-updating page — upload a file here, it shows up on the site. No page edit needed.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5943600" cy="4617720"/>
          </a:xfrm>
          <a:prstGeom prst="roundRect">
            <a:avLst>
              <a:gd name="adj" fmla="val 1188"/>
            </a:avLst>
          </a:prstGeom>
          <a:solidFill>
            <a:srgbClr val="0F2A46"/>
          </a:solidFill>
          <a:ln w="12700">
            <a:solidFill>
              <a:srgbClr val="2C547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299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TAB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304288"/>
            <a:ext cx="5486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Office Hub/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01 Office Standards/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Office Standards Manual/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Drafting Standards/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File Naming &amp; Project Setup/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02 Templates/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Drawing Title Blocks/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03 Forms/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HR Forms/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Finance Forms/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Project Admin Forms/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04 Office Policies/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Employee Handbook/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Health &amp; Safety/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Remote Work &amp; IT Use/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Benefits &amp; HR Policies/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05 SOPs/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Project Kickoff/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QA-QC Review/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Submittal Review/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Client Onboarding/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File Backup &amp; Archiving/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06 Revit Standards/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(no subfolders — flat)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903720" y="1874520"/>
            <a:ext cx="4526280" cy="4617720"/>
          </a:xfrm>
          <a:prstGeom prst="roundRect">
            <a:avLst>
              <a:gd name="adj" fmla="val 1212"/>
            </a:avLst>
          </a:prstGeom>
          <a:solidFill>
            <a:srgbClr val="0F2A46"/>
          </a:solidFill>
          <a:ln w="12700">
            <a:solidFill>
              <a:srgbClr val="C143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0" y="202996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C1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 SESSIONS — GROUPED BY MONTH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2304288"/>
            <a:ext cx="4114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Learning Sessions/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September 2026/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2026-09-04_Revit Keynoting Tips/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2026-09-11_Title of Learning Session/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2026-09-18_Title of Learning Session/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October 2026/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2026-10-02_Title of Learning Session/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2026-10-09_Title of Learning Session/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2026-10-16_Title of Learning Session/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2026-10-23_Title of Learning Session/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2026-10-30_Title of Learning Session/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November 2026/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2026-11-06_Title of Learning Session/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5806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9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convention: YYYY-MM-DD_Title of Learning Session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 Hub — Website Concept</dc:title>
  <dc:subject>PptxGenJS Presentation</dc:subject>
  <dc:creator>Studio Name Architects</dc:creator>
  <cp:lastModifiedBy>Studio Name Architects</cp:lastModifiedBy>
  <cp:revision>1</cp:revision>
  <dcterms:created xsi:type="dcterms:W3CDTF">2026-08-31T22:03:54Z</dcterms:created>
  <dcterms:modified xsi:type="dcterms:W3CDTF">2026-08-31T22:03:54Z</dcterms:modified>
</cp:coreProperties>
</file>