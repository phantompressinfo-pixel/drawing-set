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STUDIO NAME ARCHITECTS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288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100" kern="0" dirty="0">
                <a:solidFill>
                  <a:srgbClr val="F4F6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HUB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website concept for office standards, templates, forms, policies,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SOPs, and Revit standards — all in one searchable hub.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160520"/>
            <a:ext cx="3246120" cy="457200"/>
          </a:xfrm>
          <a:prstGeom prst="roundRect">
            <a:avLst>
              <a:gd name="adj" fmla="val 12000"/>
            </a:avLst>
          </a:prstGeom>
          <a:solidFill>
            <a:srgbClr val="C1432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SAMPLE — NO LIVE LINKS YET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Prepared for internal review · 28 August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12435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12435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links, pinned resources, and the latest announcements — one page, everything the office needs.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1475689" cy="987552"/>
          </a:xfrm>
          <a:prstGeom prst="roundRect">
            <a:avLst>
              <a:gd name="adj" fmla="val 555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63500" dist="25400" dir="5400000">
              <a:srgbClr val="022049">
                <a:alpha val="14000"/>
              </a:srgbClr>
            </a:outerShdw>
          </a:effectLst>
        </p:spPr>
      </p:sp>
      <p:pic>
        <p:nvPicPr>
          <p:cNvPr id="30" name="Image 0" descr="/tmp/claude-0/-home-user-drawing-set/4abccc73-5df9-5ad5-9792-19a3f012db48/scratchpad/icons/standar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109" y="2084832"/>
            <a:ext cx="347472" cy="347472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2286000" y="2487168"/>
            <a:ext cx="14756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3907993" y="1956816"/>
            <a:ext cx="1475689" cy="987552"/>
          </a:xfrm>
          <a:prstGeom prst="roundRect">
            <a:avLst>
              <a:gd name="adj" fmla="val 555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63500" dist="25400" dir="5400000">
              <a:srgbClr val="022049">
                <a:alpha val="14000"/>
              </a:srgbClr>
            </a:outerShdw>
          </a:effectLst>
        </p:spPr>
      </p:sp>
      <p:pic>
        <p:nvPicPr>
          <p:cNvPr id="33" name="Image 1" descr="/tmp/claude-0/-home-user-drawing-set/4abccc73-5df9-5ad5-9792-19a3f012db48/scratchpad/icons/templat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2102" y="2084832"/>
            <a:ext cx="347472" cy="347472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3907993" y="2487168"/>
            <a:ext cx="14756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5529986" y="1956816"/>
            <a:ext cx="1475689" cy="987552"/>
          </a:xfrm>
          <a:prstGeom prst="roundRect">
            <a:avLst>
              <a:gd name="adj" fmla="val 555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63500" dist="25400" dir="5400000">
              <a:srgbClr val="022049">
                <a:alpha val="14000"/>
              </a:srgbClr>
            </a:outerShdw>
          </a:effectLst>
        </p:spPr>
      </p:sp>
      <p:pic>
        <p:nvPicPr>
          <p:cNvPr id="36" name="Image 2" descr="/tmp/claude-0/-home-user-drawing-set/4abccc73-5df9-5ad5-9792-19a3f012db48/scratchpad/icons/form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4095" y="2084832"/>
            <a:ext cx="347472" cy="347472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5529986" y="2487168"/>
            <a:ext cx="14756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FORMS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7151980" y="1956816"/>
            <a:ext cx="1475689" cy="987552"/>
          </a:xfrm>
          <a:prstGeom prst="roundRect">
            <a:avLst>
              <a:gd name="adj" fmla="val 555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63500" dist="25400" dir="5400000">
              <a:srgbClr val="022049">
                <a:alpha val="14000"/>
              </a:srgbClr>
            </a:outerShdw>
          </a:effectLst>
        </p:spPr>
      </p:sp>
      <p:pic>
        <p:nvPicPr>
          <p:cNvPr id="39" name="Image 3" descr="/tmp/claude-0/-home-user-drawing-set/4abccc73-5df9-5ad5-9792-19a3f012db48/scratchpad/icons/polici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6088" y="2084832"/>
            <a:ext cx="347472" cy="347472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7151980" y="2487168"/>
            <a:ext cx="14756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950" dirty="0"/>
          </a:p>
        </p:txBody>
      </p:sp>
      <p:sp>
        <p:nvSpPr>
          <p:cNvPr id="41" name="Shape 35"/>
          <p:cNvSpPr/>
          <p:nvPr/>
        </p:nvSpPr>
        <p:spPr>
          <a:xfrm>
            <a:off x="8773973" y="1956816"/>
            <a:ext cx="1475689" cy="987552"/>
          </a:xfrm>
          <a:prstGeom prst="roundRect">
            <a:avLst>
              <a:gd name="adj" fmla="val 555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63500" dist="25400" dir="5400000">
              <a:srgbClr val="022049">
                <a:alpha val="14000"/>
              </a:srgbClr>
            </a:outerShdw>
          </a:effectLst>
        </p:spPr>
      </p:sp>
      <p:pic>
        <p:nvPicPr>
          <p:cNvPr id="42" name="Image 4" descr="/tmp/claude-0/-home-user-drawing-set/4abccc73-5df9-5ad5-9792-19a3f012db48/scratchpad/icons/sop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8081" y="2084832"/>
            <a:ext cx="347472" cy="347472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8773973" y="2487168"/>
            <a:ext cx="14756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SOPS</a:t>
            </a:r>
            <a:endParaRPr lang="en-US" sz="950" dirty="0"/>
          </a:p>
        </p:txBody>
      </p:sp>
      <p:sp>
        <p:nvSpPr>
          <p:cNvPr id="44" name="Shape 37"/>
          <p:cNvSpPr/>
          <p:nvPr/>
        </p:nvSpPr>
        <p:spPr>
          <a:xfrm>
            <a:off x="10395966" y="1956816"/>
            <a:ext cx="1475689" cy="987552"/>
          </a:xfrm>
          <a:prstGeom prst="roundRect">
            <a:avLst>
              <a:gd name="adj" fmla="val 555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63500" dist="25400" dir="5400000">
              <a:srgbClr val="022049">
                <a:alpha val="14000"/>
              </a:srgbClr>
            </a:outerShdw>
          </a:effectLst>
        </p:spPr>
      </p:sp>
      <p:pic>
        <p:nvPicPr>
          <p:cNvPr id="45" name="Image 5" descr="/tmp/claude-0/-home-user-drawing-set/4abccc73-5df9-5ad5-9792-19a3f012db48/scratchpad/icons/revi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60075" y="2084832"/>
            <a:ext cx="347472" cy="347472"/>
          </a:xfrm>
          <a:prstGeom prst="rect">
            <a:avLst/>
          </a:prstGeom>
        </p:spPr>
      </p:pic>
      <p:sp>
        <p:nvSpPr>
          <p:cNvPr id="46" name="Text 38"/>
          <p:cNvSpPr txBox="1"/>
          <p:nvPr/>
        </p:nvSpPr>
        <p:spPr>
          <a:xfrm>
            <a:off x="10395966" y="2487168"/>
            <a:ext cx="14756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STD.</a:t>
            </a:r>
            <a:endParaRPr lang="en-US" sz="950" dirty="0"/>
          </a:p>
        </p:txBody>
      </p:sp>
      <p:sp>
        <p:nvSpPr>
          <p:cNvPr id="47" name="Text 39"/>
          <p:cNvSpPr txBox="1"/>
          <p:nvPr/>
        </p:nvSpPr>
        <p:spPr>
          <a:xfrm>
            <a:off x="2286000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PINNED</a:t>
            </a:r>
            <a:endParaRPr lang="en-US" sz="900" dirty="0"/>
          </a:p>
        </p:txBody>
      </p:sp>
      <p:sp>
        <p:nvSpPr>
          <p:cNvPr id="48" name="Shape 40"/>
          <p:cNvSpPr/>
          <p:nvPr/>
        </p:nvSpPr>
        <p:spPr>
          <a:xfrm>
            <a:off x="2286000" y="34381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9" name="Text 41"/>
          <p:cNvSpPr txBox="1"/>
          <p:nvPr/>
        </p:nvSpPr>
        <p:spPr>
          <a:xfrm>
            <a:off x="2414016" y="35295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BIM-601</a:t>
            </a:r>
            <a:endParaRPr lang="en-US" sz="800" dirty="0"/>
          </a:p>
        </p:txBody>
      </p:sp>
      <p:sp>
        <p:nvSpPr>
          <p:cNvPr id="50" name="Shape 42"/>
          <p:cNvSpPr/>
          <p:nvPr/>
        </p:nvSpPr>
        <p:spPr>
          <a:xfrm>
            <a:off x="4621682" y="35204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51" name="Text 43"/>
          <p:cNvSpPr txBox="1"/>
          <p:nvPr/>
        </p:nvSpPr>
        <p:spPr>
          <a:xfrm>
            <a:off x="4621682" y="35204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52" name="Text 44"/>
          <p:cNvSpPr txBox="1"/>
          <p:nvPr/>
        </p:nvSpPr>
        <p:spPr>
          <a:xfrm>
            <a:off x="2414016" y="37307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Setup Protocol</a:t>
            </a:r>
            <a:endParaRPr lang="en-US" sz="1150" dirty="0"/>
          </a:p>
        </p:txBody>
      </p:sp>
      <p:sp>
        <p:nvSpPr>
          <p:cNvPr id="53" name="Text 45"/>
          <p:cNvSpPr txBox="1"/>
          <p:nvPr/>
        </p:nvSpPr>
        <p:spPr>
          <a:xfrm>
            <a:off x="2414016" y="42793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file location, worksets, and sync frequency for shared Revit models.</a:t>
            </a:r>
            <a:endParaRPr lang="en-US" sz="850" dirty="0"/>
          </a:p>
        </p:txBody>
      </p:sp>
      <p:sp>
        <p:nvSpPr>
          <p:cNvPr id="54" name="Shape 46"/>
          <p:cNvSpPr/>
          <p:nvPr/>
        </p:nvSpPr>
        <p:spPr>
          <a:xfrm>
            <a:off x="2414016" y="48828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5" name="Text 47"/>
          <p:cNvSpPr txBox="1"/>
          <p:nvPr/>
        </p:nvSpPr>
        <p:spPr>
          <a:xfrm>
            <a:off x="2414016" y="49286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6" name="Text 48"/>
          <p:cNvSpPr txBox="1"/>
          <p:nvPr/>
        </p:nvSpPr>
        <p:spPr>
          <a:xfrm>
            <a:off x="4557674" y="49286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7" name="Shape 49"/>
          <p:cNvSpPr/>
          <p:nvPr/>
        </p:nvSpPr>
        <p:spPr>
          <a:xfrm>
            <a:off x="5554370" y="34381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8" name="Text 50"/>
          <p:cNvSpPr txBox="1"/>
          <p:nvPr/>
        </p:nvSpPr>
        <p:spPr>
          <a:xfrm>
            <a:off x="5682386" y="35295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STD-101</a:t>
            </a:r>
            <a:endParaRPr lang="en-US" sz="800" dirty="0"/>
          </a:p>
        </p:txBody>
      </p:sp>
      <p:sp>
        <p:nvSpPr>
          <p:cNvPr id="59" name="Shape 51"/>
          <p:cNvSpPr/>
          <p:nvPr/>
        </p:nvSpPr>
        <p:spPr>
          <a:xfrm>
            <a:off x="7890053" y="35204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60" name="Text 52"/>
          <p:cNvSpPr txBox="1"/>
          <p:nvPr/>
        </p:nvSpPr>
        <p:spPr>
          <a:xfrm>
            <a:off x="7890053" y="35204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61" name="Text 53"/>
          <p:cNvSpPr txBox="1"/>
          <p:nvPr/>
        </p:nvSpPr>
        <p:spPr>
          <a:xfrm>
            <a:off x="5682386" y="37307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&amp; CAD Standards</a:t>
            </a:r>
            <a:endParaRPr lang="en-US" sz="1150" dirty="0"/>
          </a:p>
        </p:txBody>
      </p:sp>
      <p:sp>
        <p:nvSpPr>
          <p:cNvPr id="62" name="Text 54"/>
          <p:cNvSpPr txBox="1"/>
          <p:nvPr/>
        </p:nvSpPr>
        <p:spPr>
          <a:xfrm>
            <a:off x="5682386" y="42793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weights, layer naming, and dimensioning conventions.</a:t>
            </a:r>
            <a:endParaRPr lang="en-US" sz="850" dirty="0"/>
          </a:p>
        </p:txBody>
      </p:sp>
      <p:sp>
        <p:nvSpPr>
          <p:cNvPr id="63" name="Shape 55"/>
          <p:cNvSpPr/>
          <p:nvPr/>
        </p:nvSpPr>
        <p:spPr>
          <a:xfrm>
            <a:off x="5682386" y="48828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4" name="Text 56"/>
          <p:cNvSpPr txBox="1"/>
          <p:nvPr/>
        </p:nvSpPr>
        <p:spPr>
          <a:xfrm>
            <a:off x="5682386" y="49286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5" name="Text 57"/>
          <p:cNvSpPr txBox="1"/>
          <p:nvPr/>
        </p:nvSpPr>
        <p:spPr>
          <a:xfrm>
            <a:off x="7826045" y="49286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6" name="Shape 58"/>
          <p:cNvSpPr/>
          <p:nvPr/>
        </p:nvSpPr>
        <p:spPr>
          <a:xfrm>
            <a:off x="8822741" y="34381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7" name="Text 59"/>
          <p:cNvSpPr txBox="1"/>
          <p:nvPr/>
        </p:nvSpPr>
        <p:spPr>
          <a:xfrm>
            <a:off x="8950757" y="35295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SOP-501</a:t>
            </a:r>
            <a:endParaRPr lang="en-US" sz="800" dirty="0"/>
          </a:p>
        </p:txBody>
      </p:sp>
      <p:sp>
        <p:nvSpPr>
          <p:cNvPr id="68" name="Text 60"/>
          <p:cNvSpPr txBox="1"/>
          <p:nvPr/>
        </p:nvSpPr>
        <p:spPr>
          <a:xfrm>
            <a:off x="8950757" y="37307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Kickoff SOP</a:t>
            </a:r>
            <a:endParaRPr lang="en-US" sz="1150" dirty="0"/>
          </a:p>
        </p:txBody>
      </p:sp>
      <p:sp>
        <p:nvSpPr>
          <p:cNvPr id="69" name="Text 61"/>
          <p:cNvSpPr txBox="1"/>
          <p:nvPr/>
        </p:nvSpPr>
        <p:spPr>
          <a:xfrm>
            <a:off x="8950757" y="42793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Numbering, folder structure, and team setup for new projects.</a:t>
            </a:r>
            <a:endParaRPr lang="en-US" sz="850" dirty="0"/>
          </a:p>
        </p:txBody>
      </p:sp>
      <p:sp>
        <p:nvSpPr>
          <p:cNvPr id="70" name="Shape 62"/>
          <p:cNvSpPr/>
          <p:nvPr/>
        </p:nvSpPr>
        <p:spPr>
          <a:xfrm>
            <a:off x="8950757" y="48828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1" name="Text 63"/>
          <p:cNvSpPr txBox="1"/>
          <p:nvPr/>
        </p:nvSpPr>
        <p:spPr>
          <a:xfrm>
            <a:off x="8950757" y="49286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72" name="Text 64"/>
          <p:cNvSpPr txBox="1"/>
          <p:nvPr/>
        </p:nvSpPr>
        <p:spPr>
          <a:xfrm>
            <a:off x="11094415" y="49286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3" name="Text 65"/>
          <p:cNvSpPr txBox="1"/>
          <p:nvPr/>
        </p:nvSpPr>
        <p:spPr>
          <a:xfrm>
            <a:off x="2286000" y="537667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LATEST ANNOUNCEMENT</a:t>
            </a:r>
            <a:endParaRPr lang="en-US" sz="900" dirty="0"/>
          </a:p>
        </p:txBody>
      </p:sp>
      <p:sp>
        <p:nvSpPr>
          <p:cNvPr id="74" name="Shape 66"/>
          <p:cNvSpPr/>
          <p:nvPr/>
        </p:nvSpPr>
        <p:spPr>
          <a:xfrm>
            <a:off x="2286000" y="5632704"/>
            <a:ext cx="9585655" cy="658368"/>
          </a:xfrm>
          <a:prstGeom prst="roundRect">
            <a:avLst>
              <a:gd name="adj" fmla="val 6944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75" name="Shape 67"/>
          <p:cNvSpPr/>
          <p:nvPr/>
        </p:nvSpPr>
        <p:spPr>
          <a:xfrm>
            <a:off x="2286000" y="5632704"/>
            <a:ext cx="45720" cy="658368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76" name="Text 68"/>
          <p:cNvSpPr txBox="1"/>
          <p:nvPr/>
        </p:nvSpPr>
        <p:spPr>
          <a:xfrm>
            <a:off x="2514600" y="570585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2027 rollout begins next month</a:t>
            </a:r>
            <a:endParaRPr lang="en-US" sz="1100" dirty="0"/>
          </a:p>
        </p:txBody>
      </p:sp>
      <p:sp>
        <p:nvSpPr>
          <p:cNvPr id="77" name="Text 69"/>
          <p:cNvSpPr txBox="1"/>
          <p:nvPr/>
        </p:nvSpPr>
        <p:spPr>
          <a:xfrm>
            <a:off x="2514600" y="596188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begin migrating active projects starting mid-September. Watch for your migration window.</a:t>
            </a:r>
            <a:endParaRPr lang="en-US" sz="950" dirty="0"/>
          </a:p>
        </p:txBody>
      </p:sp>
      <p:sp>
        <p:nvSpPr>
          <p:cNvPr id="78" name="Text 70"/>
          <p:cNvSpPr txBox="1"/>
          <p:nvPr/>
        </p:nvSpPr>
        <p:spPr>
          <a:xfrm>
            <a:off x="10728655" y="570585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AUG 2026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0" y="17007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17007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Announcements &amp; Reminders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office notices, deadlines, closures, and IT maintenance windows.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000" y="1956816"/>
            <a:ext cx="54864" cy="896112"/>
          </a:xfrm>
          <a:prstGeom prst="rect">
            <a:avLst/>
          </a:prstGeom>
          <a:solidFill>
            <a:srgbClr val="B8842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532888" y="204825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closed — Labor Day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532888" y="235915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closed Monday, September 7. Deadlines falling on this date shift to September 8.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10591495" y="204825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SEP 2026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286000" y="3017520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86000" y="3017520"/>
            <a:ext cx="54864" cy="896112"/>
          </a:xfrm>
          <a:prstGeom prst="rect">
            <a:avLst/>
          </a:prstGeom>
          <a:solidFill>
            <a:srgbClr val="B8842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532888" y="3108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2027 rollout begins next month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2532888" y="341985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begin migrating active projects starting mid-September. Watch for your migration window.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10591495" y="310896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AUG 2026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286000" y="4078224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86000" y="4078224"/>
            <a:ext cx="54864" cy="896112"/>
          </a:xfrm>
          <a:prstGeom prst="rect">
            <a:avLst/>
          </a:prstGeom>
          <a:solidFill>
            <a:srgbClr val="C9D1D6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532888" y="4169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QA/QC checkpoint before CD issue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2532888" y="44805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SOP-502 (QA/QC Review SOP) for the updated milestone review requirement.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10591495" y="416966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AUG 2026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286000" y="5138928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286000" y="5138928"/>
            <a:ext cx="54864" cy="896112"/>
          </a:xfrm>
          <a:prstGeom prst="rect">
            <a:avLst/>
          </a:prstGeom>
          <a:solidFill>
            <a:srgbClr val="C9D1D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532888" y="5230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maintenance — Sat 8/30, 6–10am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2532888" y="554126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server and Revit central files will be unavailable during this window.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10591495" y="523036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0" y="21579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1579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Standards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conventions, CAD standards, file naming, and deliverable requirements.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&amp; CAD Standards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weights, layer naming, hatch patterns, and dimensioning conventions.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STD-102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89005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89005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2" name="Text 40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Naming Convention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structure for drawings, models, and project folders.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STD-103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1115842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115842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51" name="Text 49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Numbering Standard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prefixes and sheet sequencing for construction document sets.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STD-104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Standards by Phase</a:t>
            </a:r>
            <a:endParaRPr lang="en-US" sz="1150" dirty="0"/>
          </a:p>
        </p:txBody>
      </p:sp>
      <p:sp>
        <p:nvSpPr>
          <p:cNvPr id="59" name="Text 57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drawing content at SD, DD, CD, and CA phases.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62" name="Text 60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4" name="Text 62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STD-105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B8842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B884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</a:t>
            </a:r>
            <a:endParaRPr lang="en-US" sz="650" dirty="0"/>
          </a:p>
        </p:txBody>
      </p:sp>
      <p:sp>
        <p:nvSpPr>
          <p:cNvPr id="67" name="Text 65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Plotting &amp; Print Standards</a:t>
            </a:r>
            <a:endParaRPr lang="en-US" sz="1150" dirty="0"/>
          </a:p>
        </p:txBody>
      </p:sp>
      <p:sp>
        <p:nvSpPr>
          <p:cNvPr id="68" name="Text 66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 tables, plot styles, and PDF export settings.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1" name="Text 69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STD-106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Format Guide</a:t>
            </a:r>
            <a:endParaRPr lang="en-US" sz="1150" dirty="0"/>
          </a:p>
        </p:txBody>
      </p:sp>
      <p:sp>
        <p:nvSpPr>
          <p:cNvPr id="75" name="Text 73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 MasterFormat divisions used in office specifications.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DOCX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0" y="26151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6151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Ready-to-use templates for drawings, correspondence, and project documents.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Title Block Template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block, north arrow, and scale bar for CAD sheets.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DWG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TPL-202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Minutes Template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format for OAC and design meeting minutes.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TPL-203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Transmittal Template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sheet for issuing drawings and documents.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DOCX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TPL-204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 Template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for Information format with numbering convention.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0" name="Text 58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TPL-205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C1432A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Punch List Template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punch list with location, trade, and status columns.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TPL-206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&amp; Fee Template</a:t>
            </a:r>
            <a:endParaRPr lang="en-US" sz="1150" dirty="0"/>
          </a:p>
        </p:txBody>
      </p:sp>
      <p:sp>
        <p:nvSpPr>
          <p:cNvPr id="71" name="Text 69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proposal layout with scope and fee table.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DOCX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0" y="30723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30723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Fillable forms for HR, IT, expenses, and project administration.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PTO / Time-Off Request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vacation, sick, or personal time for approval.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FRM-302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Expense Reimbursement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receipts and mileage — reviewed biweekly.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FRM-303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Support Request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hardware, software, or network issues to IT.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FRM-304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New-Hire Onboarding Checklist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checklist for accounts, licenses, and workstation.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0" name="Text 58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FRM-305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Closeout Checklist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drawings and file record documents.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FRM-306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Timesheet Correction</a:t>
            </a:r>
            <a:endParaRPr lang="en-US" sz="1150" dirty="0"/>
          </a:p>
        </p:txBody>
      </p:sp>
      <p:sp>
        <p:nvSpPr>
          <p:cNvPr id="71" name="Text 69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correction to a submitted weekly timesheet.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0" y="35295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5295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Policies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handbook and firm-wide policies.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 Handbook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Firm-wide policies covering conduct, benefits, and workplace expectations.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POL-402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89005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89005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2" name="Text 40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Jobsite Health &amp; Safety Policy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requirements and safety protocol for site visits.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POL-403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Work Policy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Eligibility, core hours, and equipment guidelines.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POL-404</a:t>
            </a:r>
            <a:endParaRPr lang="en-US" sz="800" dirty="0"/>
          </a:p>
        </p:txBody>
      </p:sp>
      <p:sp>
        <p:nvSpPr>
          <p:cNvPr id="56" name="Text 54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&amp; Mileage Policy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Mileage rate and reimbursement rules for site visits.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0" name="Text 58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2" name="Text 60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POL-405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B8842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B884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</a:t>
            </a:r>
            <a:endParaRPr lang="en-US" sz="650" dirty="0"/>
          </a:p>
        </p:txBody>
      </p:sp>
      <p:sp>
        <p:nvSpPr>
          <p:cNvPr id="65" name="Text 63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&amp; Software Use Policy</a:t>
            </a:r>
            <a:endParaRPr lang="en-US" sz="1150" dirty="0"/>
          </a:p>
        </p:txBody>
      </p:sp>
      <p:sp>
        <p:nvSpPr>
          <p:cNvPr id="66" name="Text 64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use and data-security requirements.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9" name="Text 67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0" y="39867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9867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Operating Procedures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procedures for recurring project workflows.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Kickoff SOP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Numbering, folder structure, contracts, and team setup.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SOP-502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89005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89005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2" name="Text 40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QA/QC Review SOP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review checkpoints before issuing drawing sets.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SOP-503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Submittal Review SOP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Log, route, and respond to contractor submittals.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SOP-504</a:t>
            </a:r>
            <a:endParaRPr lang="en-US" sz="800" dirty="0"/>
          </a:p>
        </p:txBody>
      </p:sp>
      <p:sp>
        <p:nvSpPr>
          <p:cNvPr id="56" name="Text 54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Onboarding SOP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execution and kickoff scheduling for new clients.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60" name="Text 58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2" name="Text 60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SOP-505</a:t>
            </a:r>
            <a:endParaRPr lang="en-US" sz="800" dirty="0"/>
          </a:p>
        </p:txBody>
      </p:sp>
      <p:sp>
        <p:nvSpPr>
          <p:cNvPr id="63" name="Text 61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Backup &amp; Archiving SOP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cadence and archive procedure for project files.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SOP-506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 Issue &amp; Plotting SOP</a:t>
            </a:r>
            <a:endParaRPr lang="en-US" sz="1150" dirty="0"/>
          </a:p>
        </p:txBody>
      </p:sp>
      <p:sp>
        <p:nvSpPr>
          <p:cNvPr id="71" name="Text 69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review, plotting, and transmittal logging.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0" y="44439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44439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Standards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 execution standards for model setup, families, views, sheets, and plotting.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804590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804590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Setup &amp; Worksharing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file location, worksets, and sync frequency.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3740582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737278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4865294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BIM-602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4865294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Library &amp; Naming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4865294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family library location and naming convention.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865294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865294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6191860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7188556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7316572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BIM-603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7316572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Templates &amp; Graphics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7316572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view templates and graphic overrides.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7316572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316572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RVT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8643137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9639833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9767849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BIM-604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9767849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&amp; View Numbering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9767849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naming aligned to the office sheet-numbering standard.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9767849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767849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11094415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2286000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0" name="Text 58"/>
          <p:cNvSpPr txBox="1"/>
          <p:nvPr/>
        </p:nvSpPr>
        <p:spPr>
          <a:xfrm>
            <a:off x="2414016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BIM-605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3804590" y="42062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B8842A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804590" y="42062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B884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2414016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of Development Matrix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2414016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LOD by element and project phase.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2414016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414016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3740582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4737278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4865294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BIM-606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4865294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CAD-to-Revit Linking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4865294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vs. import rules and shared coordinates.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865294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865294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6191860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188556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6" name="Text 74"/>
          <p:cNvSpPr txBox="1"/>
          <p:nvPr/>
        </p:nvSpPr>
        <p:spPr>
          <a:xfrm>
            <a:off x="7316572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BIM-607</a:t>
            </a:r>
            <a:endParaRPr lang="en-US" sz="800" dirty="0"/>
          </a:p>
        </p:txBody>
      </p:sp>
      <p:sp>
        <p:nvSpPr>
          <p:cNvPr id="77" name="Text 75"/>
          <p:cNvSpPr txBox="1"/>
          <p:nvPr/>
        </p:nvSpPr>
        <p:spPr>
          <a:xfrm>
            <a:off x="7316572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Keynoting Standard</a:t>
            </a:r>
            <a:endParaRPr lang="en-US" sz="1050" dirty="0"/>
          </a:p>
        </p:txBody>
      </p:sp>
      <p:sp>
        <p:nvSpPr>
          <p:cNvPr id="78" name="Text 76"/>
          <p:cNvSpPr txBox="1"/>
          <p:nvPr/>
        </p:nvSpPr>
        <p:spPr>
          <a:xfrm>
            <a:off x="7316572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Keynote file location and numbering convention.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7316572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7316572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643137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9639833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9767849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BIM-608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11158423" y="42062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C1432A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1158423" y="42062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endParaRPr lang="en-US" sz="650" dirty="0"/>
          </a:p>
        </p:txBody>
      </p:sp>
      <p:sp>
        <p:nvSpPr>
          <p:cNvPr id="86" name="Text 84"/>
          <p:cNvSpPr txBox="1"/>
          <p:nvPr/>
        </p:nvSpPr>
        <p:spPr>
          <a:xfrm>
            <a:off x="9767849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Health &amp; Audit Checklist</a:t>
            </a:r>
            <a:endParaRPr lang="en-US" sz="1050" dirty="0"/>
          </a:p>
        </p:txBody>
      </p:sp>
      <p:sp>
        <p:nvSpPr>
          <p:cNvPr id="87" name="Text 85"/>
          <p:cNvSpPr txBox="1"/>
          <p:nvPr/>
        </p:nvSpPr>
        <p:spPr>
          <a:xfrm>
            <a:off x="9767849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checklist for purging and warnings review.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9767849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9767849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11094415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77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6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Concept to Live Site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642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look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3852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layout, colors, and sections shown in this deck.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256032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328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Google Sites theme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0720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Sites, use Insert → Themes to apply the palette and fonts below.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342900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each page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67588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Recreate each section natively in Sites using text boxes, buttons, and embedded Drive files.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429768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2702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real links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54456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your actual Drive, Docs, Sheets, and Forms URLs — none are live yet.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92240" y="1691640"/>
            <a:ext cx="4937760" cy="4892040"/>
          </a:xfrm>
          <a:prstGeom prst="roundRect">
            <a:avLst>
              <a:gd name="adj" fmla="val 1121"/>
            </a:avLst>
          </a:prstGeom>
          <a:solidFill>
            <a:srgbClr val="0F2A46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18288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 SPEC — FOR THE SITES COLOR PICKER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157984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4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EAD BRAND — OFFICIAL (from EAD_Branding_Sheet.pdf)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766560" y="239572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22049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42048" y="240487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Navy (Pantone 282 C)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7242048" y="257860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#022049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766560" y="28346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4B4B4B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42048" y="284378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Charcoal (Pantone 2336 C)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7242048" y="301752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#4b4b4b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3364992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4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 ACCENT COLORS (this sample deck only)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766560" y="3602736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C1432A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242048" y="361188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 (Redline)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242048" y="378561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#C1432A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766560" y="404164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B8842A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42048" y="405079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7242048" y="4224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#B8842A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766560" y="44805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3E7D5C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242048" y="448970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/ Required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7242048" y="466344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#3E7D5C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766560" y="4974336"/>
            <a:ext cx="4389120" cy="0"/>
          </a:xfrm>
          <a:prstGeom prst="line">
            <a:avLst/>
          </a:prstGeom>
          <a:noFill/>
          <a:ln w="9525">
            <a:solidFill>
              <a:srgbClr val="2C547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0" y="51389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FONTS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5358384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EAD official: Gotham (Light / Book / Medium / Bold)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6766560" y="557784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sample deck uses Arial / Calibri as a stand-in, since Gotham isn't a built-in font here.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594360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Logo: EAD LOGO BLUE TYPE NO BACKGROUND_300dpi.png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SAMPLE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Hub — Folder Structure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984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folders that drive every auto-updating page — upload a file here, it shows up on the site. No page edit needed.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5943600" cy="4617720"/>
          </a:xfrm>
          <a:prstGeom prst="roundRect">
            <a:avLst>
              <a:gd name="adj" fmla="val 1188"/>
            </a:avLst>
          </a:prstGeom>
          <a:solidFill>
            <a:srgbClr val="0F2A46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0299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TAB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304288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01 Office Standards/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Office Standards Manual/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Drafting Standards/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File Naming &amp; Project Setup/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02 Templates/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Drawing Title Blocks/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03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HR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Finance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Project Admin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04 Office Policies/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Employee Handbook/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Health &amp; Safety/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Remote Work &amp; IT Use/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Benefits &amp; HR Policies/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05 SOPs/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Project Kickoff/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QA-QC Review/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Submittal Review/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Client Onboarding/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File Backup &amp; Archiving/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06 Revit Standards/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(no subfolders — flat)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903720" y="1874520"/>
            <a:ext cx="4526280" cy="4617720"/>
          </a:xfrm>
          <a:prstGeom prst="roundRect">
            <a:avLst>
              <a:gd name="adj" fmla="val 1212"/>
            </a:avLst>
          </a:prstGeom>
          <a:solidFill>
            <a:srgbClr val="0F2A46"/>
          </a:solidFill>
          <a:ln w="12700">
            <a:solidFill>
              <a:srgbClr val="C143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0" y="202996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 SESSIONS — GROUPED BY MONTH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304288"/>
            <a:ext cx="4114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Learning Sessions/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September 2026/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2026-09-04_Revit Keynoting Tips/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2026-09-11_Title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2026-09-18_Title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October 2026/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2026-10-02_Title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2026-10-09_Title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2026-10-16_Title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2026-10-23_Title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2026-10-30_Title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November 2026/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2026-11-06_Title of Learning Session/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5806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convention: YYYY-MM-DD_Title of Learning Session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 Hub — Website Concept</dc:title>
  <dc:subject>PptxGenJS Presentation</dc:subject>
  <dc:creator>Studio Name Architects</dc:creator>
  <cp:lastModifiedBy>Studio Name Architects</cp:lastModifiedBy>
  <cp:revision>1</cp:revision>
  <dcterms:created xsi:type="dcterms:W3CDTF">2026-08-31T22:26:41Z</dcterms:created>
  <dcterms:modified xsi:type="dcterms:W3CDTF">2026-08-31T22:26:41Z</dcterms:modified>
</cp:coreProperties>
</file>