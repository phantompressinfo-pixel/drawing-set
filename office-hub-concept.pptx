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STUDIO NAME ARCHITECTS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concept for office standards, templates, forms, policies,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and Revit standards — all in one searchable hub.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C143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SAMPLE — NO LIVE LINKS YET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for internal review · 28 August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1243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1243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links, pinned resources, and the latest announcements — one page, everything the office needs.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pic>
        <p:nvPicPr>
          <p:cNvPr id="29" name="Image 0" descr="/tmp/claude-0/-home-user-drawing-set/4abccc73-5df9-5ad5-9792-19a3f012db48/scratchpad/tile_b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920240"/>
            <a:ext cx="9878263" cy="1344168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30" name="Shape 27"/>
          <p:cNvSpPr/>
          <p:nvPr/>
        </p:nvSpPr>
        <p:spPr>
          <a:xfrm>
            <a:off x="2678082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1" descr="/tmp/claude-0/-home-user-drawing-set/4abccc73-5df9-5ad5-9792-19a3f012db48/scratchpad/icons/standar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9522" y="2267712"/>
            <a:ext cx="292608" cy="29260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2286000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4065749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4" name="Image 2" descr="/tmp/claude-0/-home-user-drawing-set/4abccc73-5df9-5ad5-9792-19a3f012db48/scratchpad/icons/templ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189" y="2267712"/>
            <a:ext cx="292608" cy="29260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67366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545341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7" name="Image 3" descr="/tmp/claude-0/-home-user-drawing-set/4abccc73-5df9-5ad5-9792-19a3f012db48/scratchpad/icons/form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4856" y="2267712"/>
            <a:ext cx="292608" cy="29260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061335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6841084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0" name="Image 4" descr="/tmp/claude-0/-home-user-drawing-set/4abccc73-5df9-5ad5-9792-19a3f012db48/scratchpad/icons/polic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2524" y="2267712"/>
            <a:ext cx="292608" cy="29260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6449002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8228751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5" descr="/tmp/claude-0/-home-user-drawing-set/4abccc73-5df9-5ad5-9792-19a3f012db48/scratchpad/icons/sop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0191" y="2267712"/>
            <a:ext cx="292608" cy="292608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7836669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SOPS</a:t>
            </a:r>
            <a:endParaRPr lang="en-US" sz="900" dirty="0"/>
          </a:p>
        </p:txBody>
      </p:sp>
      <p:sp>
        <p:nvSpPr>
          <p:cNvPr id="45" name="Shape 37"/>
          <p:cNvSpPr/>
          <p:nvPr/>
        </p:nvSpPr>
        <p:spPr>
          <a:xfrm>
            <a:off x="9616418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6" name="Image 6" descr="/tmp/claude-0/-home-user-drawing-set/4abccc73-5df9-5ad5-9792-19a3f012db48/scratchpad/icons/revi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7858" y="2267712"/>
            <a:ext cx="292608" cy="29260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922433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STD.</a:t>
            </a:r>
            <a:endParaRPr lang="en-US" sz="900" dirty="0"/>
          </a:p>
        </p:txBody>
      </p:sp>
      <p:sp>
        <p:nvSpPr>
          <p:cNvPr id="48" name="Shape 39"/>
          <p:cNvSpPr/>
          <p:nvPr/>
        </p:nvSpPr>
        <p:spPr>
          <a:xfrm>
            <a:off x="1100408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7" descr="/tmp/claude-0/-home-user-drawing-set/4abccc73-5df9-5ad5-9792-19a3f012db48/scratchpad/icons/learnin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95526" y="2267712"/>
            <a:ext cx="292608" cy="292608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10612004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900" dirty="0"/>
          </a:p>
        </p:txBody>
      </p:sp>
      <p:sp>
        <p:nvSpPr>
          <p:cNvPr id="51" name="Shape 41"/>
          <p:cNvSpPr/>
          <p:nvPr/>
        </p:nvSpPr>
        <p:spPr>
          <a:xfrm>
            <a:off x="2286000" y="3520440"/>
            <a:ext cx="109728" cy="109728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52" name="Text 42"/>
          <p:cNvSpPr txBox="1"/>
          <p:nvPr/>
        </p:nvSpPr>
        <p:spPr>
          <a:xfrm>
            <a:off x="2468880" y="3502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PINNED</a:t>
            </a:r>
            <a:endParaRPr lang="en-US" sz="900" dirty="0"/>
          </a:p>
        </p:txBody>
      </p:sp>
      <p:sp>
        <p:nvSpPr>
          <p:cNvPr id="53" name="Shape 43"/>
          <p:cNvSpPr/>
          <p:nvPr/>
        </p:nvSpPr>
        <p:spPr>
          <a:xfrm>
            <a:off x="228600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44"/>
          <p:cNvSpPr txBox="1"/>
          <p:nvPr/>
        </p:nvSpPr>
        <p:spPr>
          <a:xfrm>
            <a:off x="241401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55" name="Shape 45"/>
          <p:cNvSpPr/>
          <p:nvPr/>
        </p:nvSpPr>
        <p:spPr>
          <a:xfrm>
            <a:off x="4621682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4621682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7" name="Text 47"/>
          <p:cNvSpPr txBox="1"/>
          <p:nvPr/>
        </p:nvSpPr>
        <p:spPr>
          <a:xfrm>
            <a:off x="241401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Protocol</a:t>
            </a:r>
            <a:endParaRPr lang="en-US" sz="1150" dirty="0"/>
          </a:p>
        </p:txBody>
      </p:sp>
      <p:sp>
        <p:nvSpPr>
          <p:cNvPr id="58" name="Text 48"/>
          <p:cNvSpPr txBox="1"/>
          <p:nvPr/>
        </p:nvSpPr>
        <p:spPr>
          <a:xfrm>
            <a:off x="241401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 for shared Revit models.</a:t>
            </a:r>
            <a:endParaRPr lang="en-US" sz="850" dirty="0"/>
          </a:p>
        </p:txBody>
      </p:sp>
      <p:sp>
        <p:nvSpPr>
          <p:cNvPr id="59" name="Shape 49"/>
          <p:cNvSpPr/>
          <p:nvPr/>
        </p:nvSpPr>
        <p:spPr>
          <a:xfrm>
            <a:off x="241401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0"/>
          <p:cNvSpPr txBox="1"/>
          <p:nvPr/>
        </p:nvSpPr>
        <p:spPr>
          <a:xfrm>
            <a:off x="241401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1" name="Text 51"/>
          <p:cNvSpPr txBox="1"/>
          <p:nvPr/>
        </p:nvSpPr>
        <p:spPr>
          <a:xfrm>
            <a:off x="4557674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52"/>
          <p:cNvSpPr/>
          <p:nvPr/>
        </p:nvSpPr>
        <p:spPr>
          <a:xfrm>
            <a:off x="555437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53"/>
          <p:cNvSpPr txBox="1"/>
          <p:nvPr/>
        </p:nvSpPr>
        <p:spPr>
          <a:xfrm>
            <a:off x="568238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64" name="Shape 54"/>
          <p:cNvSpPr/>
          <p:nvPr/>
        </p:nvSpPr>
        <p:spPr>
          <a:xfrm>
            <a:off x="7890053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5" name="Text 55"/>
          <p:cNvSpPr txBox="1"/>
          <p:nvPr/>
        </p:nvSpPr>
        <p:spPr>
          <a:xfrm>
            <a:off x="7890053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6" name="Text 56"/>
          <p:cNvSpPr txBox="1"/>
          <p:nvPr/>
        </p:nvSpPr>
        <p:spPr>
          <a:xfrm>
            <a:off x="568238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67" name="Text 57"/>
          <p:cNvSpPr txBox="1"/>
          <p:nvPr/>
        </p:nvSpPr>
        <p:spPr>
          <a:xfrm>
            <a:off x="568238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and dimensioning conventions.</a:t>
            </a:r>
            <a:endParaRPr lang="en-US" sz="850" dirty="0"/>
          </a:p>
        </p:txBody>
      </p:sp>
      <p:sp>
        <p:nvSpPr>
          <p:cNvPr id="68" name="Shape 58"/>
          <p:cNvSpPr/>
          <p:nvPr/>
        </p:nvSpPr>
        <p:spPr>
          <a:xfrm>
            <a:off x="568238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568238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0" name="Text 60"/>
          <p:cNvSpPr txBox="1"/>
          <p:nvPr/>
        </p:nvSpPr>
        <p:spPr>
          <a:xfrm>
            <a:off x="782604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1" name="Shape 61"/>
          <p:cNvSpPr/>
          <p:nvPr/>
        </p:nvSpPr>
        <p:spPr>
          <a:xfrm>
            <a:off x="8822741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2" name="Text 62"/>
          <p:cNvSpPr txBox="1"/>
          <p:nvPr/>
        </p:nvSpPr>
        <p:spPr>
          <a:xfrm>
            <a:off x="8950757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73" name="Text 63"/>
          <p:cNvSpPr txBox="1"/>
          <p:nvPr/>
        </p:nvSpPr>
        <p:spPr>
          <a:xfrm>
            <a:off x="8950757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74" name="Text 64"/>
          <p:cNvSpPr txBox="1"/>
          <p:nvPr/>
        </p:nvSpPr>
        <p:spPr>
          <a:xfrm>
            <a:off x="8950757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and team setup for new projects.</a:t>
            </a:r>
            <a:endParaRPr lang="en-US" sz="850" dirty="0"/>
          </a:p>
        </p:txBody>
      </p:sp>
      <p:sp>
        <p:nvSpPr>
          <p:cNvPr id="75" name="Shape 65"/>
          <p:cNvSpPr/>
          <p:nvPr/>
        </p:nvSpPr>
        <p:spPr>
          <a:xfrm>
            <a:off x="8950757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8950757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7" name="Text 67"/>
          <p:cNvSpPr txBox="1"/>
          <p:nvPr/>
        </p:nvSpPr>
        <p:spPr>
          <a:xfrm>
            <a:off x="1109441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8" name="Shape 68"/>
          <p:cNvSpPr/>
          <p:nvPr/>
        </p:nvSpPr>
        <p:spPr>
          <a:xfrm>
            <a:off x="2286000" y="5550408"/>
            <a:ext cx="109728" cy="10972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79" name="Text 69"/>
          <p:cNvSpPr txBox="1"/>
          <p:nvPr/>
        </p:nvSpPr>
        <p:spPr>
          <a:xfrm>
            <a:off x="2468880" y="55321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LATEST ANNOUNCEMENT</a:t>
            </a:r>
            <a:endParaRPr lang="en-US" sz="900" dirty="0"/>
          </a:p>
        </p:txBody>
      </p:sp>
      <p:sp>
        <p:nvSpPr>
          <p:cNvPr id="80" name="Shape 70"/>
          <p:cNvSpPr/>
          <p:nvPr/>
        </p:nvSpPr>
        <p:spPr>
          <a:xfrm>
            <a:off x="2286000" y="5788152"/>
            <a:ext cx="9585655" cy="658368"/>
          </a:xfrm>
          <a:prstGeom prst="roundRect">
            <a:avLst>
              <a:gd name="adj" fmla="val 6944"/>
            </a:avLst>
          </a:prstGeom>
          <a:solidFill>
            <a:srgbClr val="E4EA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81" name="Shape 71"/>
          <p:cNvSpPr/>
          <p:nvPr/>
        </p:nvSpPr>
        <p:spPr>
          <a:xfrm>
            <a:off x="2286000" y="5788152"/>
            <a:ext cx="54864" cy="65836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82" name="Text 72"/>
          <p:cNvSpPr txBox="1"/>
          <p:nvPr/>
        </p:nvSpPr>
        <p:spPr>
          <a:xfrm>
            <a:off x="2514600" y="5861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100" dirty="0"/>
          </a:p>
        </p:txBody>
      </p:sp>
      <p:sp>
        <p:nvSpPr>
          <p:cNvPr id="83" name="Text 73"/>
          <p:cNvSpPr txBox="1"/>
          <p:nvPr/>
        </p:nvSpPr>
        <p:spPr>
          <a:xfrm>
            <a:off x="2514600" y="6117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84" name="Text 74"/>
          <p:cNvSpPr txBox="1"/>
          <p:nvPr/>
        </p:nvSpPr>
        <p:spPr>
          <a:xfrm>
            <a:off x="10728655" y="58613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0" y="1700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1700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 &amp; Reminders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office notices, deadlines, closures, and IT maintenance windows.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32888" y="2048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— Labor Day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532888" y="235915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Monday, September 7. Deadlines falling on this date shift to September 8.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591495" y="20482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SEP 2026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286000" y="3017520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86000" y="3017520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532888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2532888" y="34198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591495" y="3108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86000" y="4078224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4078224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532888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QA/QC checkpoint before CD issue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2532888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SOP-502 (QA/QC Review SOP) for the updated milestone review requirement.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591495" y="41696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AUG 2026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86000" y="5138928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0" y="5138928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32888" y="5230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maintenance — Sat 8/30, 6–10am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2532888" y="554126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 and Revit central files will be unavailable during this window.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0591495" y="52303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2157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157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conventions, CAD standards, file naming, and deliverable requirements.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hatch patterns, and dimensioning conventions.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Naming Convention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structure for drawings, models, and project folders.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STD-103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115842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115842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Numbering Standard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prefixes and sheet sequencing for construction document sets.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STD-104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Standards by Phase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drawing content at SD, DD, CD, and CA phases.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STD-105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7" name="Text 65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Plotting &amp; Print Standards</a:t>
            </a:r>
            <a:endParaRPr lang="en-US" sz="1150" dirty="0"/>
          </a:p>
        </p:txBody>
      </p:sp>
      <p:sp>
        <p:nvSpPr>
          <p:cNvPr id="68" name="Text 66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tables, plot styles, and PDF export settings.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STD-106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Format Guide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MasterFormat divisions used in office specifications.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0" y="26151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6151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Ready-to-use templates for drawings, correspondence, and project documents.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Title Block Template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block, north arrow, and scale bar for CAD sheets.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DWG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Template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 for OAC and design meeting minutes.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Transmittal Template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sheet for issuing drawings and documents.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Template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 Information format with numbering convention.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 List Template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punch list with location, trade, and status columns.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Fee Template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proposal layout with scope and fee table.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30723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30723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Fillable forms for HR, IT, expenses, and project administration.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PTO / Time-Off Request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vacation, sick, or personal time for approval.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Reimbursement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receipts and mileage — reviewed biweekly.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 Request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hardware, software, or network issues to IT.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New-Hire Onboarding Checklist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for accounts, licenses, and workstation.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Closeout Checklist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drawings and file record documents.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Timesheet Correction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correction to a submitted weekly timesheet.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3529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529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Policies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and firm-wide policies.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Handbook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 policies covering conduct, benefits, and workplace expectations.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Jobsite Health &amp; Safety Policy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requirements and safety protocol for site visits.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Work Policy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Eligibility, core hours, and equipment guidelines.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&amp; Mileage Policy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rate and reimbursement rules for site visits.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&amp; Software Use Policy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use and data-security requirements.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9" name="Text 67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3986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986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recurring project workflows.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contracts, and team setup.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QA/QC Review SOP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 checkpoints before issuing drawing sets.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 Review SOP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route, and respond to contractor submittals.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Onboarding SOP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execution and kickoff scheduling for new clients.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SOP-505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Backup &amp; Archiving SOP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cadence and archive procedure for project files.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Issue &amp; Plotting SOP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review, plotting, and transmittal logging.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443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4443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execution standards for model setup, families, views, sheets, and plotting.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804590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04590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&amp; Worksharing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740582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37278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865294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865294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Library &amp; Naming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865294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family library location and naming convention.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65294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65294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6191860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188556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316572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16572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Templates &amp; Graphics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7316572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view templates and graphic overrides.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316572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16572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RVT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643137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639833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9767849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9767849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&amp; View Numbering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9767849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naming aligned to the office sheet-numbering standard.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9767849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767849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11094415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286000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2414016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804590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04590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2414016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of Development Matrix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LOD by element and project phase.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414016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414016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3740582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737278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4865294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4865294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CAD-to-Revit Linking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4865294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vs. import rules and shared coordinates.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865294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865294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6191860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188556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316572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BIM-607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7316572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Keynoting Standard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7316572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 file location and numbering convention.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316572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316572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643137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639833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9767849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BIM-608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1158423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1158423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9767849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Health &amp; Audit Checklist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9767849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checklist for purging and warnings review.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9767849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767849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94415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Live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look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layout, colors, and sections shown in this deck.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Google Sites theme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Sites, use Insert → Themes to apply the palette and fonts below.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page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each section natively in Sites using text boxes, buttons, and embedded Drive files.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real links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445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actual Drive, Docs, Sheets, and Forms URLs — none are live yet.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4937760" cy="4892040"/>
          </a:xfrm>
          <a:prstGeom prst="roundRect">
            <a:avLst>
              <a:gd name="adj" fmla="val 1121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8288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 SPEC — FOR THE SITES COLOR PICKER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1579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EAD BRAND — OFFICIAL (from EAD_Branding_Sheet.pdf)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66560" y="23957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22049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42048" y="2404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Navy (Pantone 282 C)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257860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#022049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4B4B4B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2843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Charcoal (Pantone 2336 C)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242048" y="30175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#4b4b4b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36499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ACCENT COLORS (this sample deck only)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76656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C143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36118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(Redline)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378561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#C1432A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404164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B884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42048" y="405079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242048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#B8842A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766560" y="4480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3E7D5C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42048" y="448970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Required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242048" y="466344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#3E7D5C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766560" y="4974336"/>
            <a:ext cx="4389120" cy="0"/>
          </a:xfrm>
          <a:prstGeom prst="line">
            <a:avLst/>
          </a:prstGeom>
          <a:noFill/>
          <a:ln w="9525">
            <a:solidFill>
              <a:srgbClr val="2C547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583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official: Gotham (Light / Book / Medium / Bold)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5778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sample deck uses Arial / Calibri as a stand-in, since Gotham isn't a built-in font here.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594360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Logo: EAD LOGO BLUE TYPE NO BACKGROUND_300dpi.png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 — Folder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98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folders that drive every auto-updating page — upload a file here, it shows up on the site. No page edit needed.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943600" cy="4617720"/>
          </a:xfrm>
          <a:prstGeom prst="roundRect">
            <a:avLst>
              <a:gd name="adj" fmla="val 1188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TAB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304288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01 Office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Office Standards Manual/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Drafting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Naming &amp; Project Setup/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02 Templates/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Drawing Title Blocks/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03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HR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Finance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Project Admin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04 Office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Employee Handbook/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Health &amp; Safety/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Remote Work &amp; IT Use/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Benefits &amp; HR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05 SOPs/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Project Kickoff/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QA-QC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Submittal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Client Onboarding/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Backup &amp; Archiving/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06 Revit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 subfolders — flat)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03720" y="1874520"/>
            <a:ext cx="4526280" cy="4617720"/>
          </a:xfrm>
          <a:prstGeom prst="roundRect">
            <a:avLst>
              <a:gd name="adj" fmla="val 1212"/>
            </a:avLst>
          </a:prstGeom>
          <a:solidFill>
            <a:srgbClr val="0F2A46"/>
          </a:solidFill>
          <a:ln w="12700">
            <a:solidFill>
              <a:srgbClr val="C143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20299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SESSIONS — GROUPED BY MONTH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304288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Learning Sessions/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September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2026-09-04_Revit Keynoting Tips/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2026-09-11_Title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2026-09-18_Title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October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2026-10-02_Title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2026-10-09_Title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2026-10-16_Title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2026-10-23_Title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2026-10-30_Title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November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2026-11-06_Title of Learning Session/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5806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YYYY-MM-DD_Title of Learning Session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Hub — Website Concept</dc:title>
  <dc:subject>PptxGenJS Presentation</dc:subject>
  <dc:creator>Studio Name Architects</dc:creator>
  <cp:lastModifiedBy>Studio Name Architects</cp:lastModifiedBy>
  <cp:revision>1</cp:revision>
  <dcterms:created xsi:type="dcterms:W3CDTF">2026-08-31T22:34:41Z</dcterms:created>
  <dcterms:modified xsi:type="dcterms:W3CDTF">2026-08-31T22:34:41Z</dcterms:modified>
</cp:coreProperties>
</file>