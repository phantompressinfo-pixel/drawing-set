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STUDIO NAME ARCHITECTS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288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100" kern="0" dirty="0">
                <a:solidFill>
                  <a:srgbClr val="F4F6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HUB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website concept for office standards, templates, forms, policies,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SOPs, and Revit standards — all in one searchable hub.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160520"/>
            <a:ext cx="3246120" cy="457200"/>
          </a:xfrm>
          <a:prstGeom prst="roundRect">
            <a:avLst>
              <a:gd name="adj" fmla="val 12000"/>
            </a:avLst>
          </a:prstGeom>
          <a:solidFill>
            <a:srgbClr val="C1432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SAMPLE — NO LIVE LINKS YET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Prepared for internal review · 28 August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12435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12435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links, pinned resources, and the latest announcements — one page, everything the office needs.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139696" y="1920240"/>
            <a:ext cx="9878263" cy="1344168"/>
          </a:xfrm>
          <a:prstGeom prst="roundRect">
            <a:avLst>
              <a:gd name="adj" fmla="val 5442"/>
            </a:avLst>
          </a:prstGeom>
          <a:solidFill>
            <a:srgbClr val="022049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678082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1" name="Image 0" descr="/tmp/claude-0/-home-user-drawing-set/4abccc73-5df9-5ad5-9792-19a3f012db48/scratchpad/icons/standar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522" y="2267712"/>
            <a:ext cx="292608" cy="292608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2286000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065749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4" name="Image 1" descr="/tmp/claude-0/-home-user-drawing-set/4abccc73-5df9-5ad5-9792-19a3f012db48/scratchpad/icons/templat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7189" y="2267712"/>
            <a:ext cx="292608" cy="292608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3673667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5453416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7" name="Image 2" descr="/tmp/claude-0/-home-user-drawing-set/4abccc73-5df9-5ad5-9792-19a3f012db48/scratchpad/icons/form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4856" y="2267712"/>
            <a:ext cx="292608" cy="292608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5061335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FORMS</a:t>
            </a:r>
            <a:endParaRPr lang="en-US" sz="900" dirty="0"/>
          </a:p>
        </p:txBody>
      </p:sp>
      <p:sp>
        <p:nvSpPr>
          <p:cNvPr id="39" name="Shape 34"/>
          <p:cNvSpPr/>
          <p:nvPr/>
        </p:nvSpPr>
        <p:spPr>
          <a:xfrm>
            <a:off x="6841084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0" name="Image 3" descr="/tmp/claude-0/-home-user-drawing-set/4abccc73-5df9-5ad5-9792-19a3f012db48/scratchpad/icons/polici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2524" y="2267712"/>
            <a:ext cx="292608" cy="292608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6449002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900" dirty="0"/>
          </a:p>
        </p:txBody>
      </p:sp>
      <p:sp>
        <p:nvSpPr>
          <p:cNvPr id="42" name="Shape 36"/>
          <p:cNvSpPr/>
          <p:nvPr/>
        </p:nvSpPr>
        <p:spPr>
          <a:xfrm>
            <a:off x="8228751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3" name="Image 4" descr="/tmp/claude-0/-home-user-drawing-set/4abccc73-5df9-5ad5-9792-19a3f012db48/scratchpad/icons/sop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0191" y="2267712"/>
            <a:ext cx="292608" cy="292608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7836669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SOPS</a:t>
            </a:r>
            <a:endParaRPr lang="en-US" sz="900" dirty="0"/>
          </a:p>
        </p:txBody>
      </p:sp>
      <p:sp>
        <p:nvSpPr>
          <p:cNvPr id="45" name="Shape 38"/>
          <p:cNvSpPr/>
          <p:nvPr/>
        </p:nvSpPr>
        <p:spPr>
          <a:xfrm>
            <a:off x="9616418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6" name="Image 5" descr="/tmp/claude-0/-home-user-drawing-set/4abccc73-5df9-5ad5-9792-19a3f012db48/scratchpad/icons/revi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07858" y="2267712"/>
            <a:ext cx="292608" cy="292608"/>
          </a:xfrm>
          <a:prstGeom prst="rect">
            <a:avLst/>
          </a:prstGeom>
        </p:spPr>
      </p:pic>
      <p:sp>
        <p:nvSpPr>
          <p:cNvPr id="47" name="Text 39"/>
          <p:cNvSpPr txBox="1"/>
          <p:nvPr/>
        </p:nvSpPr>
        <p:spPr>
          <a:xfrm>
            <a:off x="9224337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STD.</a:t>
            </a:r>
            <a:endParaRPr lang="en-US" sz="900" dirty="0"/>
          </a:p>
        </p:txBody>
      </p:sp>
      <p:sp>
        <p:nvSpPr>
          <p:cNvPr id="48" name="Shape 40"/>
          <p:cNvSpPr/>
          <p:nvPr/>
        </p:nvSpPr>
        <p:spPr>
          <a:xfrm>
            <a:off x="11004086" y="2176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9" name="Image 6" descr="/tmp/claude-0/-home-user-drawing-set/4abccc73-5df9-5ad5-9792-19a3f012db48/scratchpad/icons/learnin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5526" y="2267712"/>
            <a:ext cx="292608" cy="292608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10612004" y="2724912"/>
            <a:ext cx="125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</a:t>
            </a:r>
            <a:endParaRPr lang="en-US" sz="900" dirty="0"/>
          </a:p>
        </p:txBody>
      </p:sp>
      <p:sp>
        <p:nvSpPr>
          <p:cNvPr id="51" name="Shape 42"/>
          <p:cNvSpPr/>
          <p:nvPr/>
        </p:nvSpPr>
        <p:spPr>
          <a:xfrm>
            <a:off x="2286000" y="3520440"/>
            <a:ext cx="109728" cy="109728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2468880" y="35021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PINNED</a:t>
            </a:r>
            <a:endParaRPr lang="en-US" sz="900" dirty="0"/>
          </a:p>
        </p:txBody>
      </p:sp>
      <p:sp>
        <p:nvSpPr>
          <p:cNvPr id="53" name="Shape 44"/>
          <p:cNvSpPr/>
          <p:nvPr/>
        </p:nvSpPr>
        <p:spPr>
          <a:xfrm>
            <a:off x="2286000" y="3776472"/>
            <a:ext cx="3048914" cy="1554480"/>
          </a:xfrm>
          <a:prstGeom prst="roundRect">
            <a:avLst>
              <a:gd name="adj" fmla="val 2941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4" name="Text 45"/>
          <p:cNvSpPr txBox="1"/>
          <p:nvPr/>
        </p:nvSpPr>
        <p:spPr>
          <a:xfrm>
            <a:off x="2414016" y="3867912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BIM-601</a:t>
            </a:r>
            <a:endParaRPr lang="en-US" sz="800" dirty="0"/>
          </a:p>
        </p:txBody>
      </p:sp>
      <p:sp>
        <p:nvSpPr>
          <p:cNvPr id="55" name="Shape 46"/>
          <p:cNvSpPr/>
          <p:nvPr/>
        </p:nvSpPr>
        <p:spPr>
          <a:xfrm>
            <a:off x="4621682" y="3858768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56" name="Text 47"/>
          <p:cNvSpPr txBox="1"/>
          <p:nvPr/>
        </p:nvSpPr>
        <p:spPr>
          <a:xfrm>
            <a:off x="4621682" y="3858768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57" name="Text 48"/>
          <p:cNvSpPr txBox="1"/>
          <p:nvPr/>
        </p:nvSpPr>
        <p:spPr>
          <a:xfrm>
            <a:off x="2414016" y="4069080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Setup Protocol</a:t>
            </a:r>
            <a:endParaRPr lang="en-US" sz="1150" dirty="0"/>
          </a:p>
        </p:txBody>
      </p:sp>
      <p:sp>
        <p:nvSpPr>
          <p:cNvPr id="58" name="Text 49"/>
          <p:cNvSpPr txBox="1"/>
          <p:nvPr/>
        </p:nvSpPr>
        <p:spPr>
          <a:xfrm>
            <a:off x="2414016" y="4617720"/>
            <a:ext cx="279288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file location, worksets, and sync frequency for shared Revit models.</a:t>
            </a:r>
            <a:endParaRPr lang="en-US" sz="850" dirty="0"/>
          </a:p>
        </p:txBody>
      </p:sp>
      <p:sp>
        <p:nvSpPr>
          <p:cNvPr id="59" name="Shape 50"/>
          <p:cNvSpPr/>
          <p:nvPr/>
        </p:nvSpPr>
        <p:spPr>
          <a:xfrm>
            <a:off x="2414016" y="5038344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0" name="Text 51"/>
          <p:cNvSpPr txBox="1"/>
          <p:nvPr/>
        </p:nvSpPr>
        <p:spPr>
          <a:xfrm>
            <a:off x="2414016" y="5084064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1" name="Text 52"/>
          <p:cNvSpPr txBox="1"/>
          <p:nvPr/>
        </p:nvSpPr>
        <p:spPr>
          <a:xfrm>
            <a:off x="4557674" y="5084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2" name="Shape 53"/>
          <p:cNvSpPr/>
          <p:nvPr/>
        </p:nvSpPr>
        <p:spPr>
          <a:xfrm>
            <a:off x="5554370" y="3776472"/>
            <a:ext cx="3048914" cy="1554480"/>
          </a:xfrm>
          <a:prstGeom prst="roundRect">
            <a:avLst>
              <a:gd name="adj" fmla="val 2941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3" name="Text 54"/>
          <p:cNvSpPr txBox="1"/>
          <p:nvPr/>
        </p:nvSpPr>
        <p:spPr>
          <a:xfrm>
            <a:off x="5682386" y="3867912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STD-101</a:t>
            </a:r>
            <a:endParaRPr lang="en-US" sz="800" dirty="0"/>
          </a:p>
        </p:txBody>
      </p:sp>
      <p:sp>
        <p:nvSpPr>
          <p:cNvPr id="64" name="Shape 55"/>
          <p:cNvSpPr/>
          <p:nvPr/>
        </p:nvSpPr>
        <p:spPr>
          <a:xfrm>
            <a:off x="7890053" y="3858768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65" name="Text 56"/>
          <p:cNvSpPr txBox="1"/>
          <p:nvPr/>
        </p:nvSpPr>
        <p:spPr>
          <a:xfrm>
            <a:off x="7890053" y="3858768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66" name="Text 57"/>
          <p:cNvSpPr txBox="1"/>
          <p:nvPr/>
        </p:nvSpPr>
        <p:spPr>
          <a:xfrm>
            <a:off x="5682386" y="4069080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&amp; CAD Standards</a:t>
            </a:r>
            <a:endParaRPr lang="en-US" sz="1150" dirty="0"/>
          </a:p>
        </p:txBody>
      </p:sp>
      <p:sp>
        <p:nvSpPr>
          <p:cNvPr id="67" name="Text 58"/>
          <p:cNvSpPr txBox="1"/>
          <p:nvPr/>
        </p:nvSpPr>
        <p:spPr>
          <a:xfrm>
            <a:off x="5682386" y="4617720"/>
            <a:ext cx="279288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weights, layer naming, and dimensioning conventions.</a:t>
            </a:r>
            <a:endParaRPr lang="en-US" sz="850" dirty="0"/>
          </a:p>
        </p:txBody>
      </p:sp>
      <p:sp>
        <p:nvSpPr>
          <p:cNvPr id="68" name="Shape 59"/>
          <p:cNvSpPr/>
          <p:nvPr/>
        </p:nvSpPr>
        <p:spPr>
          <a:xfrm>
            <a:off x="5682386" y="5038344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9" name="Text 60"/>
          <p:cNvSpPr txBox="1"/>
          <p:nvPr/>
        </p:nvSpPr>
        <p:spPr>
          <a:xfrm>
            <a:off x="5682386" y="5084064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0" name="Text 61"/>
          <p:cNvSpPr txBox="1"/>
          <p:nvPr/>
        </p:nvSpPr>
        <p:spPr>
          <a:xfrm>
            <a:off x="7826045" y="5084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1" name="Shape 62"/>
          <p:cNvSpPr/>
          <p:nvPr/>
        </p:nvSpPr>
        <p:spPr>
          <a:xfrm>
            <a:off x="8822741" y="3776472"/>
            <a:ext cx="3048914" cy="1554480"/>
          </a:xfrm>
          <a:prstGeom prst="roundRect">
            <a:avLst>
              <a:gd name="adj" fmla="val 2941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2" name="Text 63"/>
          <p:cNvSpPr txBox="1"/>
          <p:nvPr/>
        </p:nvSpPr>
        <p:spPr>
          <a:xfrm>
            <a:off x="8950757" y="3867912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SOP-501</a:t>
            </a:r>
            <a:endParaRPr lang="en-US" sz="800" dirty="0"/>
          </a:p>
        </p:txBody>
      </p:sp>
      <p:sp>
        <p:nvSpPr>
          <p:cNvPr id="73" name="Text 64"/>
          <p:cNvSpPr txBox="1"/>
          <p:nvPr/>
        </p:nvSpPr>
        <p:spPr>
          <a:xfrm>
            <a:off x="8950757" y="4069080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Kickoff SOP</a:t>
            </a:r>
            <a:endParaRPr lang="en-US" sz="1150" dirty="0"/>
          </a:p>
        </p:txBody>
      </p:sp>
      <p:sp>
        <p:nvSpPr>
          <p:cNvPr id="74" name="Text 65"/>
          <p:cNvSpPr txBox="1"/>
          <p:nvPr/>
        </p:nvSpPr>
        <p:spPr>
          <a:xfrm>
            <a:off x="8950757" y="4617720"/>
            <a:ext cx="279288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Numbering, folder structure, and team setup for new projects.</a:t>
            </a:r>
            <a:endParaRPr lang="en-US" sz="850" dirty="0"/>
          </a:p>
        </p:txBody>
      </p:sp>
      <p:sp>
        <p:nvSpPr>
          <p:cNvPr id="75" name="Shape 66"/>
          <p:cNvSpPr/>
          <p:nvPr/>
        </p:nvSpPr>
        <p:spPr>
          <a:xfrm>
            <a:off x="8950757" y="5038344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6" name="Text 67"/>
          <p:cNvSpPr txBox="1"/>
          <p:nvPr/>
        </p:nvSpPr>
        <p:spPr>
          <a:xfrm>
            <a:off x="8950757" y="5084064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77" name="Text 68"/>
          <p:cNvSpPr txBox="1"/>
          <p:nvPr/>
        </p:nvSpPr>
        <p:spPr>
          <a:xfrm>
            <a:off x="11094415" y="5084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8" name="Shape 69"/>
          <p:cNvSpPr/>
          <p:nvPr/>
        </p:nvSpPr>
        <p:spPr>
          <a:xfrm>
            <a:off x="2286000" y="5550408"/>
            <a:ext cx="109728" cy="109728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79" name="Text 70"/>
          <p:cNvSpPr txBox="1"/>
          <p:nvPr/>
        </p:nvSpPr>
        <p:spPr>
          <a:xfrm>
            <a:off x="2468880" y="55321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LATEST ANNOUNCEMENT</a:t>
            </a:r>
            <a:endParaRPr lang="en-US" sz="900" dirty="0"/>
          </a:p>
        </p:txBody>
      </p:sp>
      <p:sp>
        <p:nvSpPr>
          <p:cNvPr id="80" name="Shape 71"/>
          <p:cNvSpPr/>
          <p:nvPr/>
        </p:nvSpPr>
        <p:spPr>
          <a:xfrm>
            <a:off x="2286000" y="5788152"/>
            <a:ext cx="9585655" cy="658368"/>
          </a:xfrm>
          <a:prstGeom prst="roundRect">
            <a:avLst>
              <a:gd name="adj" fmla="val 6944"/>
            </a:avLst>
          </a:prstGeom>
          <a:solidFill>
            <a:srgbClr val="E4EA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81" name="Shape 72"/>
          <p:cNvSpPr/>
          <p:nvPr/>
        </p:nvSpPr>
        <p:spPr>
          <a:xfrm>
            <a:off x="2286000" y="5788152"/>
            <a:ext cx="54864" cy="658368"/>
          </a:xfrm>
          <a:prstGeom prst="rect">
            <a:avLst/>
          </a:prstGeom>
          <a:solidFill>
            <a:srgbClr val="C1432A"/>
          </a:solidFill>
          <a:ln/>
        </p:spPr>
      </p:sp>
      <p:sp>
        <p:nvSpPr>
          <p:cNvPr id="82" name="Text 73"/>
          <p:cNvSpPr txBox="1"/>
          <p:nvPr/>
        </p:nvSpPr>
        <p:spPr>
          <a:xfrm>
            <a:off x="2514600" y="58613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2027 rollout begins next month</a:t>
            </a:r>
            <a:endParaRPr lang="en-US" sz="1100" dirty="0"/>
          </a:p>
        </p:txBody>
      </p:sp>
      <p:sp>
        <p:nvSpPr>
          <p:cNvPr id="83" name="Text 74"/>
          <p:cNvSpPr txBox="1"/>
          <p:nvPr/>
        </p:nvSpPr>
        <p:spPr>
          <a:xfrm>
            <a:off x="2514600" y="6117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begin migrating active projects starting mid-September. Watch for your migration window.</a:t>
            </a:r>
            <a:endParaRPr lang="en-US" sz="950" dirty="0"/>
          </a:p>
        </p:txBody>
      </p:sp>
      <p:sp>
        <p:nvSpPr>
          <p:cNvPr id="84" name="Text 75"/>
          <p:cNvSpPr txBox="1"/>
          <p:nvPr/>
        </p:nvSpPr>
        <p:spPr>
          <a:xfrm>
            <a:off x="10728655" y="586130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AUG 2026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0" y="17007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17007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Announcements &amp; Reminders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office notices, deadlines, closures, and IT maintenance windows.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000" y="1956816"/>
            <a:ext cx="54864" cy="896112"/>
          </a:xfrm>
          <a:prstGeom prst="rect">
            <a:avLst/>
          </a:prstGeom>
          <a:solidFill>
            <a:srgbClr val="B8842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532888" y="204825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closed — Labor Day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532888" y="235915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closed Monday, September 7. Deadlines falling on this date shift to September 8.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10591495" y="204825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SEP 2026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286000" y="3017520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86000" y="3017520"/>
            <a:ext cx="54864" cy="896112"/>
          </a:xfrm>
          <a:prstGeom prst="rect">
            <a:avLst/>
          </a:prstGeom>
          <a:solidFill>
            <a:srgbClr val="B8842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532888" y="3108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2027 rollout begins next month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2532888" y="341985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begin migrating active projects starting mid-September. Watch for your migration window.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10591495" y="310896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AUG 2026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286000" y="4078224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86000" y="4078224"/>
            <a:ext cx="54864" cy="896112"/>
          </a:xfrm>
          <a:prstGeom prst="rect">
            <a:avLst/>
          </a:prstGeom>
          <a:solidFill>
            <a:srgbClr val="C9D1D6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532888" y="4169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QA/QC checkpoint before CD issue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2532888" y="44805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SOP-502 (QA/QC Review SOP) for the updated milestone review requirement.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10591495" y="416966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AUG 2026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286000" y="5138928"/>
            <a:ext cx="9585655" cy="896112"/>
          </a:xfrm>
          <a:prstGeom prst="roundRect">
            <a:avLst>
              <a:gd name="adj" fmla="val 510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286000" y="5138928"/>
            <a:ext cx="54864" cy="896112"/>
          </a:xfrm>
          <a:prstGeom prst="rect">
            <a:avLst/>
          </a:prstGeom>
          <a:solidFill>
            <a:srgbClr val="C9D1D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532888" y="5230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maintenance — Sat 8/30, 6–10am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2532888" y="554126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server and Revit central files will be unavailable during this window.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10591495" y="523036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0" y="21579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1579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Standards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conventions, CAD standards, file naming, and deliverable requirements.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&amp; CAD Standards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weights, layer naming, hatch patterns, and dimensioning conventions.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STD-102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2" name="Text 40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Naming Convention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structure for drawings, models, and project folders.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STD-103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1115842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115842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51" name="Text 49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Numbering Standard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prefixes and sheet sequencing for construction document sets.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STD-104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Standards by Phase</a:t>
            </a:r>
            <a:endParaRPr lang="en-US" sz="1150" dirty="0"/>
          </a:p>
        </p:txBody>
      </p:sp>
      <p:sp>
        <p:nvSpPr>
          <p:cNvPr id="59" name="Text 57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drawing content at SD, DD, CD, and CA phases.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62" name="Text 60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4" name="Text 62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STD-105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67" name="Text 65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Plotting &amp; Print Standards</a:t>
            </a:r>
            <a:endParaRPr lang="en-US" sz="1150" dirty="0"/>
          </a:p>
        </p:txBody>
      </p:sp>
      <p:sp>
        <p:nvSpPr>
          <p:cNvPr id="68" name="Text 66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 tables, plot styles, and PDF export settings.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1" name="Text 69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STD-106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Format Guide</a:t>
            </a:r>
            <a:endParaRPr lang="en-US" sz="1150" dirty="0"/>
          </a:p>
        </p:txBody>
      </p:sp>
      <p:sp>
        <p:nvSpPr>
          <p:cNvPr id="75" name="Text 73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 MasterFormat divisions used in office specifications.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0" y="26151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6151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Ready-to-use templates for drawings, correspondence, and project documents.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Title Block Template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block, north arrow, and scale bar for CAD sheets.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DWG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TPL-202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Minutes Template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format for OAC and design meeting minutes.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TPL-203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Transmittal Template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sheet for issuing drawings and documents.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TPL-204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 Template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for Information format with numbering convention.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0" name="Text 58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TPL-205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C1432A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Punch List Template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punch list with location, trade, and status columns.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TPL-206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&amp; Fee Template</a:t>
            </a:r>
            <a:endParaRPr lang="en-US" sz="1150" dirty="0"/>
          </a:p>
        </p:txBody>
      </p:sp>
      <p:sp>
        <p:nvSpPr>
          <p:cNvPr id="71" name="Text 69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proposal layout with scope and fee table.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DOCX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0" y="30723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30723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Fillable forms for HR, IT, expenses, and project administration.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PTO / Time-Off Request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vacation, sick, or personal time for approval.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FRM-302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Expense Reimbursement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receipts and mileage — reviewed biweekly.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FRM-303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Support Request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hardware, software, or network issues to IT.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FRM-304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New-Hire Onboarding Checklist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checklist for accounts, licenses, and workstation.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0" name="Text 58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FRM-305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Closeout Checklist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drawings and file record documents.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FRM-306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Timesheet Correction</a:t>
            </a:r>
            <a:endParaRPr lang="en-US" sz="1150" dirty="0"/>
          </a:p>
        </p:txBody>
      </p:sp>
      <p:sp>
        <p:nvSpPr>
          <p:cNvPr id="71" name="Text 69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correction to a submitted weekly timesheet.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0" y="35295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5295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Policies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handbook and firm-wide policies.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 Handbook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Firm-wide policies covering conduct, benefits, and workplace expectations.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POL-402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2" name="Text 40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Jobsite Health &amp; Safety Policy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requirements and safety protocol for site visits.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POL-403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Work Policy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Eligibility, core hours, and equipment guidelines.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POL-404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&amp; Mileage Policy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Mileage rate and reimbursement rules for site visits.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0" name="Text 58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2" name="Text 60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POL-405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890053" y="39776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890053" y="39776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65" name="Text 63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&amp; Software Use Policy</a:t>
            </a:r>
            <a:endParaRPr lang="en-US" sz="1150" dirty="0"/>
          </a:p>
        </p:txBody>
      </p:sp>
      <p:sp>
        <p:nvSpPr>
          <p:cNvPr id="66" name="Text 64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use and data-security requirements.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9" name="Text 67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0" y="39867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9867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Operating Procedures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procedures for recurring project workflows.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21682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Kickoff SOP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Numbering, folder structure, contracts, and team setup.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557674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54370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682386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SOP-502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890053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890053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42" name="Text 40"/>
          <p:cNvSpPr txBox="1"/>
          <p:nvPr/>
        </p:nvSpPr>
        <p:spPr>
          <a:xfrm>
            <a:off x="5682386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QA/QC Review SOP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5682386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review checkpoints before issuing drawing sets.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682386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82386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782604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8822741" y="1956816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950757" y="2048256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SOP-503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8950757" y="2249424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Submittal Review SOP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8950757" y="2798064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Log, route, and respond to contractor submittals.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8950757" y="3401568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50757" y="3447288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1094415" y="3447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228600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241401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SOP-504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241401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Onboarding SOP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241401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execution and kickoff scheduling for new clients.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241401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41401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Doc</a:t>
            </a:r>
            <a:endParaRPr lang="en-US" sz="750" dirty="0"/>
          </a:p>
        </p:txBody>
      </p:sp>
      <p:sp>
        <p:nvSpPr>
          <p:cNvPr id="60" name="Text 58"/>
          <p:cNvSpPr txBox="1"/>
          <p:nvPr/>
        </p:nvSpPr>
        <p:spPr>
          <a:xfrm>
            <a:off x="4557674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5554370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2" name="Text 60"/>
          <p:cNvSpPr txBox="1"/>
          <p:nvPr/>
        </p:nvSpPr>
        <p:spPr>
          <a:xfrm>
            <a:off x="5682386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SOP-505</a:t>
            </a:r>
            <a:endParaRPr lang="en-US" sz="800" dirty="0"/>
          </a:p>
        </p:txBody>
      </p:sp>
      <p:sp>
        <p:nvSpPr>
          <p:cNvPr id="63" name="Text 61"/>
          <p:cNvSpPr txBox="1"/>
          <p:nvPr/>
        </p:nvSpPr>
        <p:spPr>
          <a:xfrm>
            <a:off x="5682386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Backup &amp; Archiving SOP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5682386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cadence and archive procedure for project files.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5682386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682386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782604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8822741" y="3895344"/>
            <a:ext cx="3048914" cy="1737360"/>
          </a:xfrm>
          <a:prstGeom prst="roundRect">
            <a:avLst>
              <a:gd name="adj" fmla="val 2632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8950757" y="3986784"/>
            <a:ext cx="1676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SOP-506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8950757" y="4187952"/>
            <a:ext cx="27928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 Issue &amp; Plotting SOP</a:t>
            </a:r>
            <a:endParaRPr lang="en-US" sz="1150" dirty="0"/>
          </a:p>
        </p:txBody>
      </p:sp>
      <p:sp>
        <p:nvSpPr>
          <p:cNvPr id="71" name="Text 69"/>
          <p:cNvSpPr txBox="1"/>
          <p:nvPr/>
        </p:nvSpPr>
        <p:spPr>
          <a:xfrm>
            <a:off x="8950757" y="4736592"/>
            <a:ext cx="27928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review, plotting, and transmittal logging.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950757" y="5340096"/>
            <a:ext cx="2792882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950757" y="5385816"/>
            <a:ext cx="18293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11094415" y="5385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BFCFC"/>
          </a:solidFill>
          <a:ln w="19050">
            <a:solidFill>
              <a:srgbClr val="0220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4612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09960" y="73152"/>
            <a:ext cx="0" cy="694944"/>
          </a:xfrm>
          <a:prstGeom prst="line">
            <a:avLst/>
          </a:prstGeom>
          <a:noFill/>
          <a:ln w="9525">
            <a:solidFill>
              <a:srgbClr val="C9D1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6032" y="1188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NAME ARCHITECTS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6032" y="4206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 — WEBSITE CONCEPT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56432" y="246888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EF1F3"/>
          </a:solidFill>
          <a:ln w="12700">
            <a:solidFill>
              <a:srgbClr val="C9D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46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standards, templates, forms, SOPs, Revit standards…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17152" y="12801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9217152" y="3108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AUG 2026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0" y="1188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841248"/>
            <a:ext cx="1965960" cy="6016752"/>
          </a:xfrm>
          <a:prstGeom prst="rect">
            <a:avLst/>
          </a:prstGeom>
          <a:solidFill>
            <a:srgbClr val="FBFCFC"/>
          </a:solidFill>
          <a:ln w="9525">
            <a:solidFill>
              <a:srgbClr val="C9D1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" y="9692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" y="1261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82880" y="1719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" y="2176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Standards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" y="2633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82880" y="30906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82880" y="35478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Policies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40050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0" y="4443984"/>
            <a:ext cx="1965960" cy="420624"/>
          </a:xfrm>
          <a:prstGeom prst="rect">
            <a:avLst/>
          </a:prstGeom>
          <a:solidFill>
            <a:srgbClr val="E3E8EA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4443984"/>
            <a:ext cx="45720" cy="420624"/>
          </a:xfrm>
          <a:prstGeom prst="rect">
            <a:avLst/>
          </a:prstGeom>
          <a:solidFill>
            <a:srgbClr val="02204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82880" y="44622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 Standards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2880" y="4919472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2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Directory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98755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" kern="0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Standards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140817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 execution standards for model setup, families, views, sheets, and plotting.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86000" y="1773936"/>
            <a:ext cx="9585655" cy="0"/>
          </a:xfrm>
          <a:prstGeom prst="line">
            <a:avLst/>
          </a:prstGeom>
          <a:noFill/>
          <a:ln w="15875">
            <a:solidFill>
              <a:srgbClr val="0220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0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2414016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804590" y="2039112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3E7D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04590" y="2039112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3E7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14016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Setup &amp; Worksharing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414016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file location, worksets, and sync frequency.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414016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3740582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737278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4865294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BIM-602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865294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Library &amp; Naming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4865294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family library location and naming convention.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865294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865294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6191860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7188556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7316572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BIM-603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7316572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Templates &amp; Graphics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7316572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view templates and graphic overrides.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7316572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316572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RVT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8643137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9639833" y="1956816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9767849" y="2048256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BIM-604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9767849" y="2249424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&amp; View Numbering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9767849" y="2798064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naming aligned to the office sheet-numbering standard.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9767849" y="3630168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767849" y="3675888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11094415" y="36758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2286000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0" name="Text 58"/>
          <p:cNvSpPr txBox="1"/>
          <p:nvPr/>
        </p:nvSpPr>
        <p:spPr>
          <a:xfrm>
            <a:off x="2414016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BIM-605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3804590" y="42062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B8842A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804590" y="42062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B884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2414016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of Development Matrix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2414016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LOD by element and project phase.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2414016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414016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3740582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4737278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4865294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BIM-606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4865294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CAD-to-Revit Linking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4865294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vs. import rules and shared coordinates.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865294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865294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6191860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188556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76" name="Text 74"/>
          <p:cNvSpPr txBox="1"/>
          <p:nvPr/>
        </p:nvSpPr>
        <p:spPr>
          <a:xfrm>
            <a:off x="7316572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BIM-607</a:t>
            </a:r>
            <a:endParaRPr lang="en-US" sz="800" dirty="0"/>
          </a:p>
        </p:txBody>
      </p:sp>
      <p:sp>
        <p:nvSpPr>
          <p:cNvPr id="77" name="Text 75"/>
          <p:cNvSpPr txBox="1"/>
          <p:nvPr/>
        </p:nvSpPr>
        <p:spPr>
          <a:xfrm>
            <a:off x="7316572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Keynoting Standard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7316572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Keynote file location and numbering convention.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7316572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7316572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643137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9639833" y="4123944"/>
            <a:ext cx="2231822" cy="1965960"/>
          </a:xfrm>
          <a:prstGeom prst="roundRect">
            <a:avLst>
              <a:gd name="adj" fmla="val 2326"/>
            </a:avLst>
          </a:prstGeom>
          <a:solidFill>
            <a:srgbClr val="FBFCFC"/>
          </a:solidFill>
          <a:ln w="12700">
            <a:solidFill>
              <a:srgbClr val="C9D1D6"/>
            </a:solidFill>
            <a:prstDash val="solid"/>
          </a:ln>
          <a:effectLst>
            <a:outerShdw sx="100000" sy="100000" kx="0" ky="0" algn="bl" rotWithShape="0" blurRad="76200" dist="25400" dir="5400000">
              <a:srgbClr val="1C2530">
                <a:alpha val="18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9767849" y="4215384"/>
            <a:ext cx="12275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BIM-608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11158423" y="4206240"/>
            <a:ext cx="621792" cy="173736"/>
          </a:xfrm>
          <a:prstGeom prst="roundRect">
            <a:avLst>
              <a:gd name="adj" fmla="val 15789"/>
            </a:avLst>
          </a:prstGeom>
          <a:solidFill>
            <a:srgbClr val="FBFCFC"/>
          </a:solidFill>
          <a:ln w="9525">
            <a:solidFill>
              <a:srgbClr val="C1432A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1158423" y="4206240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5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endParaRPr lang="en-US" sz="650" dirty="0"/>
          </a:p>
        </p:txBody>
      </p:sp>
      <p:sp>
        <p:nvSpPr>
          <p:cNvPr id="86" name="Text 84"/>
          <p:cNvSpPr txBox="1"/>
          <p:nvPr/>
        </p:nvSpPr>
        <p:spPr>
          <a:xfrm>
            <a:off x="9767849" y="4416552"/>
            <a:ext cx="19757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2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Health &amp; Audit Checklist</a:t>
            </a:r>
            <a:endParaRPr lang="en-US" sz="1050" dirty="0"/>
          </a:p>
        </p:txBody>
      </p:sp>
      <p:sp>
        <p:nvSpPr>
          <p:cNvPr id="87" name="Text 85"/>
          <p:cNvSpPr txBox="1"/>
          <p:nvPr/>
        </p:nvSpPr>
        <p:spPr>
          <a:xfrm>
            <a:off x="9767849" y="4965192"/>
            <a:ext cx="197579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checklist for purging and warnings review.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9767849" y="5797296"/>
            <a:ext cx="1975790" cy="0"/>
          </a:xfrm>
          <a:prstGeom prst="line">
            <a:avLst/>
          </a:prstGeom>
          <a:noFill/>
          <a:ln w="6350">
            <a:solidFill>
              <a:srgbClr val="C9D1D6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9767849" y="5843016"/>
            <a:ext cx="13390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4B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Sheet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11094415" y="58430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2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↗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77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6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Concept to Live Site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642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look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3852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layout, colors, and sections shown in this deck.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256032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328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Google Sites theme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0720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Sites, use Insert → Themes to apply the palette and fonts below.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342900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each page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67588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Recreate each section natively in Sites using text boxes, buttons, and embedded Drive files.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4297680"/>
            <a:ext cx="384048" cy="384048"/>
          </a:xfrm>
          <a:prstGeom prst="ellipse">
            <a:avLst/>
          </a:prstGeom>
          <a:solidFill>
            <a:srgbClr val="C1432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2702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real links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5445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your actual Drive, Docs, Sheets, and Forms URLs — none are live yet.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1691640"/>
            <a:ext cx="4937760" cy="4892040"/>
          </a:xfrm>
          <a:prstGeom prst="roundRect">
            <a:avLst>
              <a:gd name="adj" fmla="val 1121"/>
            </a:avLst>
          </a:prstGeom>
          <a:solidFill>
            <a:srgbClr val="0F2A46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18288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 SPEC — FOR THE SITES COLOR PICKER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157984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4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EAD BRAND — OFFICIAL (from EAD_Branding_Sheet.pdf)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766560" y="239572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022049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42048" y="24048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Navy (Pantone 282 C)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242048" y="257860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#022049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766560" y="28346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4B4B4B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42048" y="284378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Charcoal (Pantone 2336 C)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7242048" y="301752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#4b4b4b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3364992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4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 ACCENT COLORS (this sample deck only)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766560" y="3602736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C1432A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242048" y="361188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 (Redline)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242048" y="378561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#C1432A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766560" y="404164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B8842A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42048" y="405079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7242048" y="4224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#B8842A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766560" y="4480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3E7D5C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242048" y="448970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/ Required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7242048" y="466344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#3E7D5C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766560" y="4974336"/>
            <a:ext cx="4389120" cy="0"/>
          </a:xfrm>
          <a:prstGeom prst="line">
            <a:avLst/>
          </a:prstGeom>
          <a:noFill/>
          <a:ln w="9525">
            <a:solidFill>
              <a:srgbClr val="2C547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0" y="51389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FONTS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5358384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EAD official: Gotham (Light / Book / Medium / Bold)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6766560" y="557784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sample deck uses Arial / Calibri as a stand-in, since Gotham isn't a built-in font here.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594360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Logo: EAD LOGO BLUE TYPE NO BACKGROUND_300dpi.png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SAMPLE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Hub — Folder Structure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984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folders that drive every auto-updating page — upload a file here, it shows up on the site. No page edit needed.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5943600" cy="4617720"/>
          </a:xfrm>
          <a:prstGeom prst="roundRect">
            <a:avLst>
              <a:gd name="adj" fmla="val 1188"/>
            </a:avLst>
          </a:prstGeom>
          <a:solidFill>
            <a:srgbClr val="0F2A46"/>
          </a:solidFill>
          <a:ln w="12700">
            <a:solidFill>
              <a:srgbClr val="2C547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0299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FA0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TAB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304288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 Hub/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01 Office Standards/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Office Standards Manual/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Drafting Standards/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File Naming &amp; Project Setup/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02 Templates/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Drawing Title Blocks/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03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HR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Finance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Project Admin Forms/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04 Office Policies/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Employee Handbook/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Health &amp; Safety/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Remote Work &amp; IT Use/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Benefits &amp; HR Policies/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05 SOPs/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Project Kickoff/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QA-QC Review/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Submittal Review/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Client Onboarding/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File Backup &amp; Archiving/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06 Revit Standards/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(no subfolders — flat)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903720" y="1874520"/>
            <a:ext cx="4526280" cy="4617720"/>
          </a:xfrm>
          <a:prstGeom prst="roundRect">
            <a:avLst>
              <a:gd name="adj" fmla="val 1212"/>
            </a:avLst>
          </a:prstGeom>
          <a:solidFill>
            <a:srgbClr val="0F2A46"/>
          </a:solidFill>
          <a:ln w="12700">
            <a:solidFill>
              <a:srgbClr val="C143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0" y="202996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C1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 SESSIONS — GROUPED BY MONTH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304288"/>
            <a:ext cx="4114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Learning Sessions/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September 2026/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2026-09-04_Revit Keynoting Tips/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2026-09-11_Title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2026-09-18_Title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October 2026/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2026-10-02_Title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2026-10-09_Title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2026-10-16_Title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2026-10-23_Title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2026-10-30_Title of Learning Session/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November 2026/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2026-11-06_Title of Learning Session/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5806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9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convention: YYYY-MM-DD_Title of Learning Session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 Hub — Website Concept</dc:title>
  <dc:subject>PptxGenJS Presentation</dc:subject>
  <dc:creator>Studio Name Architects</dc:creator>
  <cp:lastModifiedBy>Studio Name Architects</cp:lastModifiedBy>
  <cp:revision>1</cp:revision>
  <dcterms:created xsi:type="dcterms:W3CDTF">2026-08-31T22:30:51Z</dcterms:created>
  <dcterms:modified xsi:type="dcterms:W3CDTF">2026-08-31T22:30:51Z</dcterms:modified>
</cp:coreProperties>
</file>